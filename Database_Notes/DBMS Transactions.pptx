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660" r:id="rId5"/>
  </p:sldMasterIdLst>
  <p:notesMasterIdLst>
    <p:notesMasterId r:id="rId35"/>
  </p:notesMasterIdLst>
  <p:handoutMasterIdLst>
    <p:handoutMasterId r:id="rId36"/>
  </p:handoutMasterIdLst>
  <p:sldIdLst>
    <p:sldId id="271" r:id="rId6"/>
    <p:sldId id="326" r:id="rId7"/>
    <p:sldId id="361" r:id="rId8"/>
    <p:sldId id="362" r:id="rId9"/>
    <p:sldId id="375" r:id="rId10"/>
    <p:sldId id="376" r:id="rId11"/>
    <p:sldId id="377" r:id="rId12"/>
    <p:sldId id="378" r:id="rId13"/>
    <p:sldId id="379" r:id="rId14"/>
    <p:sldId id="364" r:id="rId15"/>
    <p:sldId id="380" r:id="rId16"/>
    <p:sldId id="363" r:id="rId17"/>
    <p:sldId id="365" r:id="rId18"/>
    <p:sldId id="381" r:id="rId19"/>
    <p:sldId id="367" r:id="rId20"/>
    <p:sldId id="382" r:id="rId21"/>
    <p:sldId id="366" r:id="rId22"/>
    <p:sldId id="385" r:id="rId23"/>
    <p:sldId id="386" r:id="rId24"/>
    <p:sldId id="384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59" r:id="rId33"/>
    <p:sldId id="27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53462AE-9573-49B2-954C-E627E9F9ABD3}">
          <p14:sldIdLst>
            <p14:sldId id="271"/>
            <p14:sldId id="326"/>
            <p14:sldId id="361"/>
            <p14:sldId id="362"/>
            <p14:sldId id="375"/>
            <p14:sldId id="376"/>
            <p14:sldId id="377"/>
            <p14:sldId id="378"/>
            <p14:sldId id="379"/>
            <p14:sldId id="364"/>
            <p14:sldId id="380"/>
            <p14:sldId id="363"/>
            <p14:sldId id="365"/>
            <p14:sldId id="381"/>
            <p14:sldId id="367"/>
            <p14:sldId id="382"/>
            <p14:sldId id="366"/>
            <p14:sldId id="385"/>
            <p14:sldId id="386"/>
            <p14:sldId id="384"/>
            <p14:sldId id="368"/>
            <p14:sldId id="369"/>
            <p14:sldId id="370"/>
            <p14:sldId id="371"/>
            <p14:sldId id="372"/>
            <p14:sldId id="373"/>
            <p14:sldId id="374"/>
            <p14:sldId id="359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14D"/>
    <a:srgbClr val="000000"/>
    <a:srgbClr val="B61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/>
    <p:restoredTop sz="94731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9" d="100"/>
          <a:sy n="119" d="100"/>
        </p:scale>
        <p:origin x="51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8.xml"/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eesh M" userId="ba23f043-57f5-4ea1-9cac-0e86480d769c" providerId="ADAL" clId="{C7D00FB5-8AA6-4449-8BB0-A7EB23D0B28E}"/>
    <pc:docChg chg="custSel addSld delSld modSld modSection">
      <pc:chgData name="Nidheesh M" userId="ba23f043-57f5-4ea1-9cac-0e86480d769c" providerId="ADAL" clId="{C7D00FB5-8AA6-4449-8BB0-A7EB23D0B28E}" dt="2023-01-03T20:22:18.102" v="39" actId="1076"/>
      <pc:docMkLst>
        <pc:docMk/>
      </pc:docMkLst>
      <pc:sldChg chg="del">
        <pc:chgData name="Nidheesh M" userId="ba23f043-57f5-4ea1-9cac-0e86480d769c" providerId="ADAL" clId="{C7D00FB5-8AA6-4449-8BB0-A7EB23D0B28E}" dt="2023-01-03T20:19:02.249" v="6" actId="47"/>
        <pc:sldMkLst>
          <pc:docMk/>
          <pc:sldMk cId="0" sldId="258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59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0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1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2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3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4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5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6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7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8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69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70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72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77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78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79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0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1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2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3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4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5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6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7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8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89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0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1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2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3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4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5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6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7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8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299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300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301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302"/>
        </pc:sldMkLst>
      </pc:sldChg>
      <pc:sldChg chg="del">
        <pc:chgData name="Nidheesh M" userId="ba23f043-57f5-4ea1-9cac-0e86480d769c" providerId="ADAL" clId="{C7D00FB5-8AA6-4449-8BB0-A7EB23D0B28E}" dt="2023-01-03T20:18:28.889" v="0" actId="47"/>
        <pc:sldMkLst>
          <pc:docMk/>
          <pc:sldMk cId="0" sldId="313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26"/>
        </pc:sldMkLst>
      </pc:sldChg>
      <pc:sldChg chg="modSp add mod">
        <pc:chgData name="Nidheesh M" userId="ba23f043-57f5-4ea1-9cac-0e86480d769c" providerId="ADAL" clId="{C7D00FB5-8AA6-4449-8BB0-A7EB23D0B28E}" dt="2023-01-03T20:18:57.413" v="5" actId="27636"/>
        <pc:sldMkLst>
          <pc:docMk/>
          <pc:sldMk cId="0" sldId="359"/>
        </pc:sldMkLst>
        <pc:spChg chg="mod">
          <ac:chgData name="Nidheesh M" userId="ba23f043-57f5-4ea1-9cac-0e86480d769c" providerId="ADAL" clId="{C7D00FB5-8AA6-4449-8BB0-A7EB23D0B28E}" dt="2023-01-03T20:18:57.413" v="5" actId="27636"/>
          <ac:spMkLst>
            <pc:docMk/>
            <pc:sldMk cId="0" sldId="359"/>
            <ac:spMk id="137219" creationId="{53390CB7-7A3B-DC50-7623-66B800652170}"/>
          </ac:spMkLst>
        </pc:sp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61"/>
        </pc:sldMkLst>
      </pc:sldChg>
      <pc:sldChg chg="modSp add mod">
        <pc:chgData name="Nidheesh M" userId="ba23f043-57f5-4ea1-9cac-0e86480d769c" providerId="ADAL" clId="{C7D00FB5-8AA6-4449-8BB0-A7EB23D0B28E}" dt="2023-01-03T20:19:15.011" v="7" actId="14100"/>
        <pc:sldMkLst>
          <pc:docMk/>
          <pc:sldMk cId="0" sldId="362"/>
        </pc:sldMkLst>
        <pc:spChg chg="mod">
          <ac:chgData name="Nidheesh M" userId="ba23f043-57f5-4ea1-9cac-0e86480d769c" providerId="ADAL" clId="{C7D00FB5-8AA6-4449-8BB0-A7EB23D0B28E}" dt="2023-01-03T20:19:15.011" v="7" actId="14100"/>
          <ac:spMkLst>
            <pc:docMk/>
            <pc:sldMk cId="0" sldId="362"/>
            <ac:spMk id="140291" creationId="{6DEA0DED-62B3-2F28-00B0-E630C4F52D4B}"/>
          </ac:spMkLst>
        </pc:sp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63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64"/>
        </pc:sldMkLst>
      </pc:sldChg>
      <pc:sldChg chg="modSp add mod">
        <pc:chgData name="Nidheesh M" userId="ba23f043-57f5-4ea1-9cac-0e86480d769c" providerId="ADAL" clId="{C7D00FB5-8AA6-4449-8BB0-A7EB23D0B28E}" dt="2023-01-03T20:20:19.024" v="15" actId="1076"/>
        <pc:sldMkLst>
          <pc:docMk/>
          <pc:sldMk cId="0" sldId="365"/>
        </pc:sldMkLst>
        <pc:spChg chg="mod">
          <ac:chgData name="Nidheesh M" userId="ba23f043-57f5-4ea1-9cac-0e86480d769c" providerId="ADAL" clId="{C7D00FB5-8AA6-4449-8BB0-A7EB23D0B28E}" dt="2023-01-03T20:20:14.612" v="14" actId="1076"/>
          <ac:spMkLst>
            <pc:docMk/>
            <pc:sldMk cId="0" sldId="365"/>
            <ac:spMk id="143363" creationId="{3CDF4F44-88C3-EF0E-5EC8-992D8FE6630F}"/>
          </ac:spMkLst>
        </pc:spChg>
        <pc:spChg chg="mod">
          <ac:chgData name="Nidheesh M" userId="ba23f043-57f5-4ea1-9cac-0e86480d769c" providerId="ADAL" clId="{C7D00FB5-8AA6-4449-8BB0-A7EB23D0B28E}" dt="2023-01-03T20:20:19.024" v="15" actId="1076"/>
          <ac:spMkLst>
            <pc:docMk/>
            <pc:sldMk cId="0" sldId="365"/>
            <ac:spMk id="143364" creationId="{45D9958E-FE03-FD3F-0A3D-38D32068AA3E}"/>
          </ac:spMkLst>
        </pc:spChg>
        <pc:graphicFrameChg chg="mod">
          <ac:chgData name="Nidheesh M" userId="ba23f043-57f5-4ea1-9cac-0e86480d769c" providerId="ADAL" clId="{C7D00FB5-8AA6-4449-8BB0-A7EB23D0B28E}" dt="2023-01-03T20:20:09.707" v="13" actId="1076"/>
          <ac:graphicFrameMkLst>
            <pc:docMk/>
            <pc:sldMk cId="0" sldId="365"/>
            <ac:graphicFrameMk id="143365" creationId="{A8DF2F84-7851-E661-2CBA-6DA0C85B7FF3}"/>
          </ac:graphicFrameMkLst>
        </pc:graphicFrameChg>
      </pc:sldChg>
      <pc:sldChg chg="modSp add">
        <pc:chgData name="Nidheesh M" userId="ba23f043-57f5-4ea1-9cac-0e86480d769c" providerId="ADAL" clId="{C7D00FB5-8AA6-4449-8BB0-A7EB23D0B28E}" dt="2023-01-03T20:20:43.528" v="16" actId="1076"/>
        <pc:sldMkLst>
          <pc:docMk/>
          <pc:sldMk cId="0" sldId="366"/>
        </pc:sldMkLst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386" creationId="{9BAFE297-55C2-930C-9CA3-33DA660350C8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07" creationId="{B97C0063-A433-ABC1-F708-A2DA55749FDD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08" creationId="{59A2F88D-327D-3741-6308-48027ADA1C1B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09" creationId="{D72E9DC5-094E-97C4-BBAC-444848A8B4E9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0" creationId="{856E37A0-6627-9237-AAE8-F29D11F64ED1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1" creationId="{EDC30DE2-043B-AA76-011D-D8731425AE2E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2" creationId="{736C2A9E-F8C1-4DDB-E765-08EAB399D6F9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3" creationId="{AB72AD09-CCD3-E70B-7814-867584A2BE1E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4" creationId="{3A611B9A-64B0-5159-8135-8FA816DD4F8C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5" creationId="{332AEEC2-9F16-14EC-10CE-A86EC820C8CA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6" creationId="{8598C5CC-E7C7-C24D-7A43-20422FDAE01A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7" creationId="{3894FFCF-6B03-BC60-E9C7-1A72E2CAC128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8" creationId="{158C136F-EA6D-4C1B-1EB4-5F17034A9B99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19" creationId="{48720213-A2AE-EBB8-B770-1D3D4E3E1FC6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0" creationId="{2BE49F30-9F4A-22C6-F2B0-6B8B2A868DC4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1" creationId="{3B6A540F-5302-AF56-100B-E24B0A26DC4F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2" creationId="{67ADC8B8-20B6-FA6C-CD37-6325ECCD70F1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3" creationId="{AC46325C-DEC6-2E1C-593E-4D8E35968646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4" creationId="{15DBCBB1-4407-3455-5E57-9911B15E3249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5" creationId="{89F96920-EDB0-6361-0EE7-2950C00518A2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6" creationId="{03BEE1DD-4F85-E5EC-6588-FD73BD00B2FE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7" creationId="{64D82E2E-51A7-321F-8E1A-1AAF7B46013A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8" creationId="{72F973EA-E505-1F8D-B0EE-BEC3D29D7337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29" creationId="{759F7AF5-0668-04DC-80F2-0F368A93B69C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30" creationId="{58CEEB4D-CD21-2E4D-F25D-8D9A9246126A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31" creationId="{C322B65E-0C62-66E2-C55F-F437F6EAA2FC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32" creationId="{C7EA76B0-BDEF-6E0A-A744-889D8CE29EFA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33" creationId="{C30595EB-6742-7F32-528A-B927C4A8EF23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34" creationId="{D8EFAD78-000E-72AA-8C5F-E57747FC53A1}"/>
          </ac:spMkLst>
        </pc:spChg>
        <pc:spChg chg="mod">
          <ac:chgData name="Nidheesh M" userId="ba23f043-57f5-4ea1-9cac-0e86480d769c" providerId="ADAL" clId="{C7D00FB5-8AA6-4449-8BB0-A7EB23D0B28E}" dt="2023-01-03T20:20:43.528" v="16" actId="1076"/>
          <ac:spMkLst>
            <pc:docMk/>
            <pc:sldMk cId="0" sldId="366"/>
            <ac:spMk id="144735" creationId="{0C0B035A-B730-470B-F30E-71AF3A35772E}"/>
          </ac:spMkLst>
        </pc:spChg>
        <pc:graphicFrameChg chg="mod">
          <ac:chgData name="Nidheesh M" userId="ba23f043-57f5-4ea1-9cac-0e86480d769c" providerId="ADAL" clId="{C7D00FB5-8AA6-4449-8BB0-A7EB23D0B28E}" dt="2023-01-03T20:20:43.528" v="16" actId="1076"/>
          <ac:graphicFrameMkLst>
            <pc:docMk/>
            <pc:sldMk cId="0" sldId="366"/>
            <ac:graphicFrameMk id="144582" creationId="{C89B2ECF-9C2E-9018-8D74-B657F6BF7972}"/>
          </ac:graphicFrameMkLst>
        </pc:graphicFrameChg>
        <pc:graphicFrameChg chg="mod">
          <ac:chgData name="Nidheesh M" userId="ba23f043-57f5-4ea1-9cac-0e86480d769c" providerId="ADAL" clId="{C7D00FB5-8AA6-4449-8BB0-A7EB23D0B28E}" dt="2023-01-03T20:20:43.528" v="16" actId="1076"/>
          <ac:graphicFrameMkLst>
            <pc:docMk/>
            <pc:sldMk cId="0" sldId="366"/>
            <ac:graphicFrameMk id="144706" creationId="{3CD6FD2E-2D14-DF86-C544-98B5F45FADFE}"/>
          </ac:graphicFrameMkLst>
        </pc:graphicFrameChg>
      </pc:sldChg>
      <pc:sldChg chg="modSp add mod">
        <pc:chgData name="Nidheesh M" userId="ba23f043-57f5-4ea1-9cac-0e86480d769c" providerId="ADAL" clId="{C7D00FB5-8AA6-4449-8BB0-A7EB23D0B28E}" dt="2023-01-03T20:18:57.385" v="4" actId="27636"/>
        <pc:sldMkLst>
          <pc:docMk/>
          <pc:sldMk cId="0" sldId="367"/>
        </pc:sldMkLst>
        <pc:spChg chg="mod">
          <ac:chgData name="Nidheesh M" userId="ba23f043-57f5-4ea1-9cac-0e86480d769c" providerId="ADAL" clId="{C7D00FB5-8AA6-4449-8BB0-A7EB23D0B28E}" dt="2023-01-03T20:18:57.385" v="4" actId="27636"/>
          <ac:spMkLst>
            <pc:docMk/>
            <pc:sldMk cId="0" sldId="367"/>
            <ac:spMk id="145410" creationId="{70128683-3D96-5EEB-A03C-0D96510053BA}"/>
          </ac:spMkLst>
        </pc:sp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68"/>
        </pc:sldMkLst>
      </pc:sldChg>
      <pc:sldChg chg="modSp add mod">
        <pc:chgData name="Nidheesh M" userId="ba23f043-57f5-4ea1-9cac-0e86480d769c" providerId="ADAL" clId="{C7D00FB5-8AA6-4449-8BB0-A7EB23D0B28E}" dt="2023-01-03T20:21:36.743" v="34" actId="1038"/>
        <pc:sldMkLst>
          <pc:docMk/>
          <pc:sldMk cId="0" sldId="369"/>
        </pc:sldMkLst>
        <pc:spChg chg="mod">
          <ac:chgData name="Nidheesh M" userId="ba23f043-57f5-4ea1-9cac-0e86480d769c" providerId="ADAL" clId="{C7D00FB5-8AA6-4449-8BB0-A7EB23D0B28E}" dt="2023-01-03T20:21:36.743" v="34" actId="1038"/>
          <ac:spMkLst>
            <pc:docMk/>
            <pc:sldMk cId="0" sldId="369"/>
            <ac:spMk id="147458" creationId="{A6D8FD0C-0040-9352-59FC-1628BBD1F01B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45" creationId="{2F357204-604B-0437-2F8D-8D5840B44A92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46" creationId="{1CCAC673-4F9B-96A1-CA66-BFB84D669DCF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47" creationId="{30E6BA1F-CA83-F2F1-AEC6-3B734247F808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48" creationId="{4AACC459-1253-5D64-0EFE-49FB7CED7676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49" creationId="{DF86D08C-BF12-88D8-4815-FA66FC560CF1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0" creationId="{D1822F6A-01C6-D12E-CAB9-F644CFDCF9D2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1" creationId="{815EFE49-2824-D093-F482-00EA0429A20F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2" creationId="{6491D05D-3158-CA6E-6AC7-E436CC764C7E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3" creationId="{5CF00645-A3BD-52C6-FC7C-5162C293B6F0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4" creationId="{F55B18F4-C23D-7B97-D110-AF10196A3E86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5" creationId="{455DEA85-1699-0FFB-F8F9-AEB48A5E9F76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6" creationId="{95BFD85D-9C6B-4215-D7E3-461F608EBA8F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7" creationId="{A55991C3-9883-939A-3700-55469CC8FAF2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8" creationId="{EC99CF58-A8AD-5409-99B0-ED7F4F28A474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59" creationId="{14EE7CB1-1D92-5EC7-9999-EE19A8204D61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60" creationId="{6F27BC51-BB58-7A9D-648E-86D273ADA7F8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61" creationId="{F94D7FD9-3F3C-6C9B-42DB-C957E8A8272F}"/>
          </ac:spMkLst>
        </pc:spChg>
        <pc:spChg chg="mod">
          <ac:chgData name="Nidheesh M" userId="ba23f043-57f5-4ea1-9cac-0e86480d769c" providerId="ADAL" clId="{C7D00FB5-8AA6-4449-8BB0-A7EB23D0B28E}" dt="2023-01-03T20:21:29.061" v="19" actId="1076"/>
          <ac:spMkLst>
            <pc:docMk/>
            <pc:sldMk cId="0" sldId="369"/>
            <ac:spMk id="147562" creationId="{B92E9738-14A3-B4E0-EA0E-1C907F1E60A2}"/>
          </ac:spMkLst>
        </pc:spChg>
        <pc:graphicFrameChg chg="mod">
          <ac:chgData name="Nidheesh M" userId="ba23f043-57f5-4ea1-9cac-0e86480d769c" providerId="ADAL" clId="{C7D00FB5-8AA6-4449-8BB0-A7EB23D0B28E}" dt="2023-01-03T20:21:29.061" v="19" actId="1076"/>
          <ac:graphicFrameMkLst>
            <pc:docMk/>
            <pc:sldMk cId="0" sldId="369"/>
            <ac:graphicFrameMk id="147459" creationId="{F832749F-9939-04D5-E7F7-6FDB1032DA60}"/>
          </ac:graphicFrameMkLst>
        </pc:graphicFrameChg>
      </pc:sldChg>
      <pc:sldChg chg="modSp add mod">
        <pc:chgData name="Nidheesh M" userId="ba23f043-57f5-4ea1-9cac-0e86480d769c" providerId="ADAL" clId="{C7D00FB5-8AA6-4449-8BB0-A7EB23D0B28E}" dt="2023-01-03T20:22:04.181" v="38" actId="1076"/>
        <pc:sldMkLst>
          <pc:docMk/>
          <pc:sldMk cId="0" sldId="370"/>
        </pc:sldMkLst>
        <pc:spChg chg="mod">
          <ac:chgData name="Nidheesh M" userId="ba23f043-57f5-4ea1-9cac-0e86480d769c" providerId="ADAL" clId="{C7D00FB5-8AA6-4449-8BB0-A7EB23D0B28E}" dt="2023-01-03T20:22:04.181" v="38" actId="1076"/>
          <ac:spMkLst>
            <pc:docMk/>
            <pc:sldMk cId="0" sldId="370"/>
            <ac:spMk id="148482" creationId="{301D0BB8-2B15-A697-9986-876DAE1761D9}"/>
          </ac:spMkLst>
        </pc:spChg>
        <pc:spChg chg="mod">
          <ac:chgData name="Nidheesh M" userId="ba23f043-57f5-4ea1-9cac-0e86480d769c" providerId="ADAL" clId="{C7D00FB5-8AA6-4449-8BB0-A7EB23D0B28E}" dt="2023-01-03T20:21:56.942" v="37" actId="1076"/>
          <ac:spMkLst>
            <pc:docMk/>
            <pc:sldMk cId="0" sldId="370"/>
            <ac:spMk id="148483" creationId="{11827009-29E1-98E2-7223-8C4D2DF02DD7}"/>
          </ac:spMkLst>
        </pc:spChg>
      </pc:sldChg>
      <pc:sldChg chg="modSp add">
        <pc:chgData name="Nidheesh M" userId="ba23f043-57f5-4ea1-9cac-0e86480d769c" providerId="ADAL" clId="{C7D00FB5-8AA6-4449-8BB0-A7EB23D0B28E}" dt="2023-01-03T20:22:18.102" v="39" actId="1076"/>
        <pc:sldMkLst>
          <pc:docMk/>
          <pc:sldMk cId="0" sldId="371"/>
        </pc:sldMkLst>
        <pc:spChg chg="mod">
          <ac:chgData name="Nidheesh M" userId="ba23f043-57f5-4ea1-9cac-0e86480d769c" providerId="ADAL" clId="{C7D00FB5-8AA6-4449-8BB0-A7EB23D0B28E}" dt="2023-01-03T20:22:18.102" v="39" actId="1076"/>
          <ac:spMkLst>
            <pc:docMk/>
            <pc:sldMk cId="0" sldId="371"/>
            <ac:spMk id="149708" creationId="{9F826433-CD31-9E15-8BFF-D2D7FBB62350}"/>
          </ac:spMkLst>
        </pc:spChg>
        <pc:spChg chg="mod">
          <ac:chgData name="Nidheesh M" userId="ba23f043-57f5-4ea1-9cac-0e86480d769c" providerId="ADAL" clId="{C7D00FB5-8AA6-4449-8BB0-A7EB23D0B28E}" dt="2023-01-03T20:22:18.102" v="39" actId="1076"/>
          <ac:spMkLst>
            <pc:docMk/>
            <pc:sldMk cId="0" sldId="371"/>
            <ac:spMk id="149709" creationId="{7D052F97-0EFA-5FEF-7A9A-BD1CC9CE8763}"/>
          </ac:spMkLst>
        </pc:spChg>
        <pc:spChg chg="mod">
          <ac:chgData name="Nidheesh M" userId="ba23f043-57f5-4ea1-9cac-0e86480d769c" providerId="ADAL" clId="{C7D00FB5-8AA6-4449-8BB0-A7EB23D0B28E}" dt="2023-01-03T20:22:18.102" v="39" actId="1076"/>
          <ac:spMkLst>
            <pc:docMk/>
            <pc:sldMk cId="0" sldId="371"/>
            <ac:spMk id="149710" creationId="{31922511-6001-AB7E-4F75-0123D12D421D}"/>
          </ac:spMkLst>
        </pc:spChg>
        <pc:spChg chg="mod">
          <ac:chgData name="Nidheesh M" userId="ba23f043-57f5-4ea1-9cac-0e86480d769c" providerId="ADAL" clId="{C7D00FB5-8AA6-4449-8BB0-A7EB23D0B28E}" dt="2023-01-03T20:22:18.102" v="39" actId="1076"/>
          <ac:spMkLst>
            <pc:docMk/>
            <pc:sldMk cId="0" sldId="371"/>
            <ac:spMk id="149711" creationId="{0738FFE3-862C-2275-F97F-EFFA6ECA19CE}"/>
          </ac:spMkLst>
        </pc:spChg>
        <pc:spChg chg="mod">
          <ac:chgData name="Nidheesh M" userId="ba23f043-57f5-4ea1-9cac-0e86480d769c" providerId="ADAL" clId="{C7D00FB5-8AA6-4449-8BB0-A7EB23D0B28E}" dt="2023-01-03T20:22:18.102" v="39" actId="1076"/>
          <ac:spMkLst>
            <pc:docMk/>
            <pc:sldMk cId="0" sldId="371"/>
            <ac:spMk id="149712" creationId="{060C86F1-6CA4-7F36-4457-9B6340EBF375}"/>
          </ac:spMkLst>
        </pc:spChg>
        <pc:graphicFrameChg chg="mod">
          <ac:chgData name="Nidheesh M" userId="ba23f043-57f5-4ea1-9cac-0e86480d769c" providerId="ADAL" clId="{C7D00FB5-8AA6-4449-8BB0-A7EB23D0B28E}" dt="2023-01-03T20:22:18.102" v="39" actId="1076"/>
          <ac:graphicFrameMkLst>
            <pc:docMk/>
            <pc:sldMk cId="0" sldId="371"/>
            <ac:graphicFrameMk id="149507" creationId="{6DC124D0-5DFD-8A80-5DE1-2A029B90FA0C}"/>
          </ac:graphicFrameMkLst>
        </pc:graphicFrame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72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73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74"/>
        </pc:sldMkLst>
      </pc:sldChg>
      <pc:sldChg chg="modSp add mod">
        <pc:chgData name="Nidheesh M" userId="ba23f043-57f5-4ea1-9cac-0e86480d769c" providerId="ADAL" clId="{C7D00FB5-8AA6-4449-8BB0-A7EB23D0B28E}" dt="2023-01-03T20:18:57.329" v="2" actId="27636"/>
        <pc:sldMkLst>
          <pc:docMk/>
          <pc:sldMk cId="0" sldId="375"/>
        </pc:sldMkLst>
        <pc:spChg chg="mod">
          <ac:chgData name="Nidheesh M" userId="ba23f043-57f5-4ea1-9cac-0e86480d769c" providerId="ADAL" clId="{C7D00FB5-8AA6-4449-8BB0-A7EB23D0B28E}" dt="2023-01-03T20:18:57.329" v="2" actId="27636"/>
          <ac:spMkLst>
            <pc:docMk/>
            <pc:sldMk cId="0" sldId="375"/>
            <ac:spMk id="153603" creationId="{E6192BC0-D4F1-2DCC-F7C8-A5F76EDC6020}"/>
          </ac:spMkLst>
        </pc:sp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76"/>
        </pc:sldMkLst>
      </pc:sldChg>
      <pc:sldChg chg="modSp add mod">
        <pc:chgData name="Nidheesh M" userId="ba23f043-57f5-4ea1-9cac-0e86480d769c" providerId="ADAL" clId="{C7D00FB5-8AA6-4449-8BB0-A7EB23D0B28E}" dt="2023-01-03T20:18:57.346" v="3" actId="27636"/>
        <pc:sldMkLst>
          <pc:docMk/>
          <pc:sldMk cId="0" sldId="377"/>
        </pc:sldMkLst>
        <pc:spChg chg="mod">
          <ac:chgData name="Nidheesh M" userId="ba23f043-57f5-4ea1-9cac-0e86480d769c" providerId="ADAL" clId="{C7D00FB5-8AA6-4449-8BB0-A7EB23D0B28E}" dt="2023-01-03T20:18:57.346" v="3" actId="27636"/>
          <ac:spMkLst>
            <pc:docMk/>
            <pc:sldMk cId="0" sldId="377"/>
            <ac:spMk id="156676" creationId="{53661EA4-8E7B-6920-DF99-3B5A76F42208}"/>
          </ac:spMkLst>
        </pc:sp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78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79"/>
        </pc:sldMkLst>
      </pc:sldChg>
      <pc:sldChg chg="modSp add mod">
        <pc:chgData name="Nidheesh M" userId="ba23f043-57f5-4ea1-9cac-0e86480d769c" providerId="ADAL" clId="{C7D00FB5-8AA6-4449-8BB0-A7EB23D0B28E}" dt="2023-01-03T20:19:51.461" v="12" actId="14100"/>
        <pc:sldMkLst>
          <pc:docMk/>
          <pc:sldMk cId="0" sldId="380"/>
        </pc:sldMkLst>
        <pc:spChg chg="mod">
          <ac:chgData name="Nidheesh M" userId="ba23f043-57f5-4ea1-9cac-0e86480d769c" providerId="ADAL" clId="{C7D00FB5-8AA6-4449-8BB0-A7EB23D0B28E}" dt="2023-01-03T20:19:51.461" v="12" actId="14100"/>
          <ac:spMkLst>
            <pc:docMk/>
            <pc:sldMk cId="0" sldId="380"/>
            <ac:spMk id="159747" creationId="{1A863CFA-B700-4E49-12C1-9EEE8C66B468}"/>
          </ac:spMkLst>
        </pc:spChg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81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82"/>
        </pc:sldMkLst>
      </pc:sldChg>
      <pc:sldChg chg="add">
        <pc:chgData name="Nidheesh M" userId="ba23f043-57f5-4ea1-9cac-0e86480d769c" providerId="ADAL" clId="{C7D00FB5-8AA6-4449-8BB0-A7EB23D0B28E}" dt="2023-01-03T20:18:57.189" v="1"/>
        <pc:sldMkLst>
          <pc:docMk/>
          <pc:sldMk cId="0" sldId="384"/>
        </pc:sldMkLst>
      </pc:sldChg>
      <pc:sldChg chg="modSp add">
        <pc:chgData name="Nidheesh M" userId="ba23f043-57f5-4ea1-9cac-0e86480d769c" providerId="ADAL" clId="{C7D00FB5-8AA6-4449-8BB0-A7EB23D0B28E}" dt="2023-01-03T20:20:56.939" v="17" actId="1076"/>
        <pc:sldMkLst>
          <pc:docMk/>
          <pc:sldMk cId="0" sldId="385"/>
        </pc:sldMkLst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6914" creationId="{A86AAD12-DC59-0DBB-3700-FDED4CF339BB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29" creationId="{57033428-48E7-ABFB-ADF4-34FBA1F2F0BB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0" creationId="{2CDB0440-43E1-6C8D-6F33-6AD57CA349D5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1" creationId="{677F4B3C-245B-71B8-15F6-7882A54AF833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2" creationId="{1F7DB47C-1F8E-DB3D-22FD-1584848F5B6E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3" creationId="{2B2BB317-EA7F-B774-2A31-D40B6031FE00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4" creationId="{2E469428-6A1E-C990-1F65-60C6F837A30A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5" creationId="{BAE994F0-D0B6-3D39-FEA7-B2E02EFED457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6" creationId="{5DF488C0-AED1-B424-5FE1-E571CAB67445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7" creationId="{F3EB99CE-BEF3-6BCB-A73F-58900A0F1CAF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8" creationId="{25E9E5BF-F43A-6E06-8AEC-919FFE921ABD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39" creationId="{EB194F95-9FBF-3024-BAB5-C970FCC83004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0" creationId="{250263BA-8846-2DD4-B462-C415E59345CB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1" creationId="{4B035987-A017-69EA-B4DD-8F2742859DF3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3" creationId="{F817E52B-1BEE-5A5E-99AA-98983F244ED4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4" creationId="{DBAF67D0-2E77-37E6-E4DF-5AD6DF0E5745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5" creationId="{F4228AE6-30DB-D49F-57BE-6A02851E9378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6" creationId="{167BEC2A-0C0C-D5D1-8DF4-4404FE13246B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7" creationId="{577B5FDA-A1DB-16C3-BBB3-E6021DF95268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8" creationId="{2C7A2D00-B994-70D9-0E94-5D8F78A2E6A8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49" creationId="{4D3FE5BD-9057-E71C-11F3-031700B58F5A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0" creationId="{87130206-A1EC-9379-B7E1-674622D8067C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1" creationId="{D45685E4-5035-4FD8-DAF8-BCEBBEF9A3CC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2" creationId="{299BC8A3-5078-A391-7338-15A34C372D18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3" creationId="{8789C33E-06D0-2C8C-E2C7-890C15E66FC5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5" creationId="{BD4B6F14-E51D-B2C1-58F6-32784CEF289F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6" creationId="{A9710417-FDAE-4FAC-5165-AD654E8D7764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7" creationId="{DF8010CA-A62B-5D86-B3B5-EA9E017FE7A8}"/>
          </ac:spMkLst>
        </pc:spChg>
        <pc:spChg chg="mod">
          <ac:chgData name="Nidheesh M" userId="ba23f043-57f5-4ea1-9cac-0e86480d769c" providerId="ADAL" clId="{C7D00FB5-8AA6-4449-8BB0-A7EB23D0B28E}" dt="2023-01-03T20:20:56.939" v="17" actId="1076"/>
          <ac:spMkLst>
            <pc:docMk/>
            <pc:sldMk cId="0" sldId="385"/>
            <ac:spMk id="167058" creationId="{CB11567A-FFF5-1A73-16CD-373840A636FD}"/>
          </ac:spMkLst>
        </pc:spChg>
        <pc:graphicFrameChg chg="mod">
          <ac:chgData name="Nidheesh M" userId="ba23f043-57f5-4ea1-9cac-0e86480d769c" providerId="ADAL" clId="{C7D00FB5-8AA6-4449-8BB0-A7EB23D0B28E}" dt="2023-01-03T20:20:56.939" v="17" actId="1076"/>
          <ac:graphicFrameMkLst>
            <pc:docMk/>
            <pc:sldMk cId="0" sldId="385"/>
            <ac:graphicFrameMk id="166915" creationId="{78A14D41-8459-29DB-FBD0-18467CC549CB}"/>
          </ac:graphicFrameMkLst>
        </pc:graphicFrameChg>
        <pc:graphicFrameChg chg="mod">
          <ac:chgData name="Nidheesh M" userId="ba23f043-57f5-4ea1-9cac-0e86480d769c" providerId="ADAL" clId="{C7D00FB5-8AA6-4449-8BB0-A7EB23D0B28E}" dt="2023-01-03T20:20:56.939" v="17" actId="1076"/>
          <ac:graphicFrameMkLst>
            <pc:docMk/>
            <pc:sldMk cId="0" sldId="385"/>
            <ac:graphicFrameMk id="166972" creationId="{59F10D19-7005-6D95-0292-9CFB3E41A8AD}"/>
          </ac:graphicFrameMkLst>
        </pc:graphicFrameChg>
      </pc:sldChg>
      <pc:sldChg chg="modSp add">
        <pc:chgData name="Nidheesh M" userId="ba23f043-57f5-4ea1-9cac-0e86480d769c" providerId="ADAL" clId="{C7D00FB5-8AA6-4449-8BB0-A7EB23D0B28E}" dt="2023-01-03T20:21:09.426" v="18" actId="1076"/>
        <pc:sldMkLst>
          <pc:docMk/>
          <pc:sldMk cId="0" sldId="386"/>
        </pc:sldMkLst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7938" creationId="{6DF30AED-7DBF-26F7-7F61-565B1B6808F7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3" creationId="{5FB6B206-430D-290F-DFC0-11DE6D4B1A1B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4" creationId="{6E3D6311-A8B3-EFDC-3868-DFDFE9B639F1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5" creationId="{A22ADFF7-066E-B112-4D9A-16A0C74A07F5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6" creationId="{4EE0EA45-81E1-7FF7-192D-5E8F19DE35CD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7" creationId="{CD01C5FE-4267-4C6F-6068-14C02A0A3BBF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8" creationId="{ECCDFAE6-FDA6-8810-070D-C25323E0EEB9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59" creationId="{465C5033-62A0-85DB-2333-3AC9934A5BB4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0" creationId="{F094A920-7397-AD29-D50F-EFEABDE05217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1" creationId="{1ECFC963-0697-1C19-C856-F11DC5830670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2" creationId="{1B1618E1-56A9-36C0-AC2D-A65CA69E33BA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3" creationId="{C165DD69-1174-6BA4-3C60-75BA02F4F341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4" creationId="{E72E3F8C-7F70-092A-90E4-6078E669315A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5" creationId="{2080B9E3-0B51-D35D-6B23-ECFE12E96E02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6" creationId="{5B68AA89-6DB0-4736-428F-B5F64FFC1723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7" creationId="{859BB1CE-A8E4-D39A-C07F-5B1D9C827E07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8" creationId="{2A1524BB-534D-9E47-5E85-81148E340F2C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69" creationId="{9CE35DFF-CC03-3893-A7B6-E19C80A78E54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0" creationId="{323F959A-6203-8D3A-9EA0-FD6565237D84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1" creationId="{E9F7368E-18F6-87DB-9652-1175850603BC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2" creationId="{0BDCDEA5-6232-0055-6338-B10CCAE97091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3" creationId="{2688418E-64B8-6F0F-D977-33E2A0336A3F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4" creationId="{4232C319-EE09-2E70-0647-42C5BF4F8E94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5" creationId="{9804AF26-7714-626C-FCAC-AAC88DEBC32A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6" creationId="{5ED277BD-A08C-1BF6-98FA-28CA357DF809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7" creationId="{F093C439-BE76-D78F-5679-970F331465FC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8" creationId="{ED5F2083-AD7D-2585-69AF-2CC66D2A7C4D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79" creationId="{D7B6A055-B702-FA45-EEB2-6AA89CB64BDB}"/>
          </ac:spMkLst>
        </pc:spChg>
        <pc:spChg chg="mod">
          <ac:chgData name="Nidheesh M" userId="ba23f043-57f5-4ea1-9cac-0e86480d769c" providerId="ADAL" clId="{C7D00FB5-8AA6-4449-8BB0-A7EB23D0B28E}" dt="2023-01-03T20:21:09.426" v="18" actId="1076"/>
          <ac:spMkLst>
            <pc:docMk/>
            <pc:sldMk cId="0" sldId="386"/>
            <ac:spMk id="168080" creationId="{34D78E9E-23C5-3D29-AED3-0F8E34D69324}"/>
          </ac:spMkLst>
        </pc:spChg>
        <pc:graphicFrameChg chg="mod">
          <ac:chgData name="Nidheesh M" userId="ba23f043-57f5-4ea1-9cac-0e86480d769c" providerId="ADAL" clId="{C7D00FB5-8AA6-4449-8BB0-A7EB23D0B28E}" dt="2023-01-03T20:21:09.426" v="18" actId="1076"/>
          <ac:graphicFrameMkLst>
            <pc:docMk/>
            <pc:sldMk cId="0" sldId="386"/>
            <ac:graphicFrameMk id="167939" creationId="{352472B5-1147-7A34-BBC8-ED26AEEAB667}"/>
          </ac:graphicFrameMkLst>
        </pc:graphicFrameChg>
        <pc:graphicFrameChg chg="mod">
          <ac:chgData name="Nidheesh M" userId="ba23f043-57f5-4ea1-9cac-0e86480d769c" providerId="ADAL" clId="{C7D00FB5-8AA6-4449-8BB0-A7EB23D0B28E}" dt="2023-01-03T20:21:09.426" v="18" actId="1076"/>
          <ac:graphicFrameMkLst>
            <pc:docMk/>
            <pc:sldMk cId="0" sldId="386"/>
            <ac:graphicFrameMk id="167996" creationId="{381EEE49-02DE-B52D-0702-9E7AC092384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16733F-15EF-1B4D-9226-92DE12E4B2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19F92-688F-1448-9648-D71E817F42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8E583-B028-1D43-B6E1-2D2917F185DA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83346-784F-2B42-840A-678DDF515D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17335-AD71-B94A-AF41-1076FFA852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AAAC5-8CF5-AB40-9262-A1CFC20C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19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39F3-1AAD-FC4D-A04F-76D148ABB79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66FC8-4927-614B-A5B7-98373311A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0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6FC8-4927-614B-A5B7-98373311AD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1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6FC8-4927-614B-A5B7-98373311ADC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32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482340" y="3911284"/>
            <a:ext cx="7788634" cy="1515482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8087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>
            <a:lvl1pPr>
              <a:defRPr>
                <a:latin typeface="Avenir Next LT Pro"/>
              </a:defRPr>
            </a:lvl1pPr>
            <a:lvl2pPr>
              <a:defRPr>
                <a:latin typeface="Avenir Next LT Pro"/>
              </a:defRPr>
            </a:lvl2pPr>
            <a:lvl3pPr>
              <a:defRPr>
                <a:latin typeface="Avenir Next LT Pro"/>
              </a:defRPr>
            </a:lvl3pPr>
            <a:lvl4pPr>
              <a:defRPr>
                <a:latin typeface="Avenir Next LT Pro"/>
              </a:defRPr>
            </a:lvl4pPr>
            <a:lvl5pPr>
              <a:defRPr>
                <a:latin typeface="Avenir Next LT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461535"/>
            <a:ext cx="5181600" cy="45202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461535"/>
            <a:ext cx="5181600" cy="45202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70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41052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2234440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141052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2234440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482340" y="3911283"/>
            <a:ext cx="9144000" cy="1277937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478208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2CA8-CA7F-0A01-3281-71D07B82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5C70B08-5507-ABE5-8720-EADB210ED5D7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079B6-F560-ECC1-9C16-E382AF08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th-TH" altLang="en-US"/>
              <a:t>K.Porkaew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F3DAC-8704-5A57-7E29-4DCF14D2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DBMS</a:t>
            </a: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E02B4-E971-57B1-3D14-C1C718FF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E56FD81A-8ABB-4583-9EEC-4FAA52378D13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378306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71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3345180" y="2707279"/>
            <a:ext cx="0" cy="2283821"/>
          </a:xfrm>
          <a:prstGeom prst="line">
            <a:avLst/>
          </a:prstGeom>
          <a:ln w="349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861" y="2544174"/>
            <a:ext cx="4801940" cy="153343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08045-AFC8-D948-A7AA-36ABBAEE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46E20-E261-4F47-BDD7-A38268798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79CD-E371-CC40-A4D1-6741D9D89E9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1A1CC-00CC-5A4A-B6A4-D2B0F6123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023C7-E3BA-934E-ACD8-ACE53FA0D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9B101-B82C-6745-856F-2822ADCE93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2CC90-A706-DB43-AD69-4727A1685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095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096000"/>
            <a:ext cx="12192000" cy="771800"/>
          </a:xfrm>
          <a:prstGeom prst="rect">
            <a:avLst/>
          </a:prstGeom>
          <a:solidFill>
            <a:srgbClr val="000000"/>
          </a:solidFill>
          <a:ln w="762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5977"/>
            <a:ext cx="10515600" cy="9865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786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140361"/>
            <a:ext cx="12192000" cy="727439"/>
          </a:xfrm>
          <a:prstGeom prst="rect">
            <a:avLst/>
          </a:prstGeom>
          <a:solidFill>
            <a:srgbClr val="B6114D"/>
          </a:solidFill>
          <a:ln w="762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0" y="6195046"/>
            <a:ext cx="1935479" cy="61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3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5564" y="3782290"/>
            <a:ext cx="8786436" cy="1257796"/>
          </a:xfrm>
        </p:spPr>
        <p:txBody>
          <a:bodyPr>
            <a:noAutofit/>
          </a:bodyPr>
          <a:lstStyle/>
          <a:p>
            <a:r>
              <a:rPr lang="en-CA" sz="4800" dirty="0">
                <a:cs typeface="Adobe Hebrew" panose="02040503050201020203" pitchFamily="18" charset="-79"/>
              </a:rPr>
              <a:t>Data Engineering &amp; Administration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28F2F-1B95-4241-9794-E0413FBDD5AB}"/>
              </a:ext>
            </a:extLst>
          </p:cNvPr>
          <p:cNvSpPr txBox="1"/>
          <p:nvPr/>
        </p:nvSpPr>
        <p:spPr>
          <a:xfrm>
            <a:off x="8400836" y="5903893"/>
            <a:ext cx="3791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/>
              <a:t>Nidheesh M., PhD</a:t>
            </a:r>
            <a:br>
              <a:rPr lang="en-IN" sz="2800" dirty="0"/>
            </a:br>
            <a:r>
              <a:rPr lang="en-IN" sz="2800" dirty="0"/>
              <a:t>School of Biotechnology</a:t>
            </a:r>
          </a:p>
        </p:txBody>
      </p:sp>
    </p:spTree>
    <p:extLst>
      <p:ext uri="{BB962C8B-B14F-4D97-AF65-F5344CB8AC3E}">
        <p14:creationId xmlns:p14="http://schemas.microsoft.com/office/powerpoint/2010/main" val="243098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24B8FD71-07B1-D07F-413C-57A83F582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Objectives and Outline</a:t>
            </a:r>
            <a:endParaRPr lang="th-TH" altLang="en-US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676CEB5C-E031-F699-56DB-0AAF60886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6914" y="1362075"/>
            <a:ext cx="8364537" cy="5202238"/>
          </a:xfrm>
        </p:spPr>
        <p:txBody>
          <a:bodyPr/>
          <a:lstStyle/>
          <a:p>
            <a:pPr marL="268288" indent="-268288"/>
            <a:r>
              <a:rPr lang="en-US" altLang="en-US"/>
              <a:t>Objectives and Outline</a:t>
            </a:r>
          </a:p>
          <a:p>
            <a:pPr marL="712788" lvl="1" indent="-265113"/>
            <a:r>
              <a:rPr lang="en-US" altLang="en-US"/>
              <a:t>To study …</a:t>
            </a:r>
          </a:p>
          <a:p>
            <a:pPr marL="1169988" lvl="2" indent="-268288"/>
            <a:r>
              <a:rPr lang="en-US" altLang="en-US"/>
              <a:t>Overviews of transaction processing concepts</a:t>
            </a:r>
          </a:p>
          <a:p>
            <a:pPr marL="1169988" lvl="2" indent="-268288"/>
            <a:r>
              <a:rPr lang="en-US" altLang="en-US"/>
              <a:t>ACID properties of transactions</a:t>
            </a:r>
          </a:p>
          <a:p>
            <a:pPr marL="1169988" lvl="2" indent="-268288"/>
            <a:r>
              <a:rPr lang="en-US" altLang="en-US"/>
              <a:t>Transaction schedules</a:t>
            </a:r>
          </a:p>
          <a:p>
            <a:pPr marL="1169988" lvl="2" indent="-268288"/>
            <a:r>
              <a:rPr lang="en-US" altLang="en-US"/>
              <a:t>Serializable schedules and test of serializability</a:t>
            </a:r>
          </a:p>
          <a:p>
            <a:pPr marL="1169988" lvl="2" indent="-268288"/>
            <a:r>
              <a:rPr lang="en-US" altLang="en-US"/>
              <a:t>Recoverable schedules and types of recoverability</a:t>
            </a:r>
          </a:p>
          <a:p>
            <a:pPr marL="1169988" lvl="2" indent="-268288"/>
            <a:r>
              <a:rPr lang="en-US" altLang="en-US"/>
              <a:t>Transaction concepts in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417EC609-9D71-45FB-5C7A-09BC6FAD0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Transactions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B944031B-C201-E956-E401-9944D0EA7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12914" y="1600201"/>
            <a:ext cx="8677275" cy="4525963"/>
          </a:xfrm>
        </p:spPr>
        <p:txBody>
          <a:bodyPr/>
          <a:lstStyle/>
          <a:p>
            <a:pPr marL="268288" indent="-268288">
              <a:lnSpc>
                <a:spcPct val="80000"/>
              </a:lnSpc>
              <a:tabLst>
                <a:tab pos="4664075" algn="l"/>
              </a:tabLst>
            </a:pPr>
            <a:r>
              <a:rPr lang="en-US" altLang="en-US" sz="2400"/>
              <a:t>Transaction Concepts</a:t>
            </a:r>
          </a:p>
          <a:p>
            <a:pPr lvl="4">
              <a:lnSpc>
                <a:spcPct val="80000"/>
              </a:lnSpc>
              <a:tabLst>
                <a:tab pos="4664075" algn="l"/>
              </a:tabLst>
            </a:pPr>
            <a:endParaRPr lang="en-US" altLang="en-US" sz="1600"/>
          </a:p>
          <a:p>
            <a:pPr marL="712788" lvl="1" indent="-265113">
              <a:lnSpc>
                <a:spcPct val="80000"/>
              </a:lnSpc>
              <a:tabLst>
                <a:tab pos="4664075" algn="l"/>
              </a:tabLst>
            </a:pPr>
            <a:r>
              <a:rPr lang="en-US" altLang="en-US" sz="2000"/>
              <a:t>A transaction is a unit of program execution that may </a:t>
            </a:r>
            <a:br>
              <a:rPr lang="en-US" altLang="en-US" sz="2000"/>
            </a:br>
            <a:r>
              <a:rPr lang="en-US" altLang="en-US" sz="2000"/>
              <a:t>consist of several steps that access/modify the database.</a:t>
            </a:r>
          </a:p>
          <a:p>
            <a:pPr lvl="4">
              <a:lnSpc>
                <a:spcPct val="80000"/>
              </a:lnSpc>
              <a:tabLst>
                <a:tab pos="4664075" algn="l"/>
              </a:tabLst>
            </a:pPr>
            <a:endParaRPr lang="en-US" altLang="en-US" sz="1600"/>
          </a:p>
          <a:p>
            <a:pPr marL="712788" lvl="1" indent="-265113">
              <a:lnSpc>
                <a:spcPct val="80000"/>
              </a:lnSpc>
              <a:tabLst>
                <a:tab pos="4664075" algn="l"/>
              </a:tabLst>
            </a:pPr>
            <a:r>
              <a:rPr lang="en-US" altLang="en-US" sz="2000"/>
              <a:t>Every step in the same transaction must see the same consistent state of the database; as if no other transactions touch the database.</a:t>
            </a:r>
          </a:p>
          <a:p>
            <a:pPr lvl="4">
              <a:lnSpc>
                <a:spcPct val="80000"/>
              </a:lnSpc>
              <a:tabLst>
                <a:tab pos="4664075" algn="l"/>
              </a:tabLst>
            </a:pPr>
            <a:endParaRPr lang="en-US" altLang="en-US" sz="1600"/>
          </a:p>
          <a:p>
            <a:pPr marL="712788" lvl="1" indent="-265113">
              <a:lnSpc>
                <a:spcPct val="80000"/>
              </a:lnSpc>
              <a:tabLst>
                <a:tab pos="4664075" algn="l"/>
              </a:tabLst>
            </a:pPr>
            <a:r>
              <a:rPr lang="en-US" altLang="en-US" sz="2000"/>
              <a:t>A transaction may change the database to an inconsistent state during the execution of the transaction but the database must be </a:t>
            </a:r>
            <a:br>
              <a:rPr lang="en-US" altLang="en-US" sz="2000"/>
            </a:br>
            <a:r>
              <a:rPr lang="en-US" altLang="en-US" sz="2000"/>
              <a:t>in a consistent state at the end of the execution of transaction.</a:t>
            </a:r>
          </a:p>
          <a:p>
            <a:pPr lvl="4">
              <a:lnSpc>
                <a:spcPct val="80000"/>
              </a:lnSpc>
              <a:tabLst>
                <a:tab pos="4664075" algn="l"/>
              </a:tabLst>
            </a:pPr>
            <a:endParaRPr lang="en-US" altLang="en-US" sz="1600"/>
          </a:p>
          <a:p>
            <a:pPr marL="712788" lvl="1" indent="-265113">
              <a:lnSpc>
                <a:spcPct val="80000"/>
              </a:lnSpc>
              <a:tabLst>
                <a:tab pos="4664075" algn="l"/>
              </a:tabLst>
            </a:pPr>
            <a:r>
              <a:rPr lang="en-US" altLang="en-US" sz="2000"/>
              <a:t>After a transaction is committed, the effect of the transaction must persist in the database.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05F71C1E-9D0A-1DE5-2EA1-0DA8AFB1E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0975"/>
            <a:ext cx="8229600" cy="1062038"/>
          </a:xfrm>
        </p:spPr>
        <p:txBody>
          <a:bodyPr/>
          <a:lstStyle/>
          <a:p>
            <a:r>
              <a:rPr lang="en-US" altLang="en-US"/>
              <a:t>Transaction Properties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6DEA0DED-62B3-2F28-00B0-E630C4F52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9589" y="1196976"/>
            <a:ext cx="9508897" cy="5400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 b="1" dirty="0"/>
              <a:t>ACID</a:t>
            </a:r>
            <a:r>
              <a:rPr lang="en-US" altLang="en-US" dirty="0"/>
              <a:t> Properties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A</a:t>
            </a:r>
            <a:r>
              <a:rPr lang="en-US" altLang="en-US" dirty="0"/>
              <a:t>tomicity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No partial effect of a transaction in the database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C</a:t>
            </a:r>
            <a:r>
              <a:rPr lang="en-US" altLang="en-US" dirty="0"/>
              <a:t>onsistency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transaction must preserve the consistency of the database.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I</a:t>
            </a:r>
            <a:r>
              <a:rPr lang="en-US" altLang="en-US" dirty="0"/>
              <a:t>solation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transaction must not interfere/be interfered by other transactions.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D</a:t>
            </a:r>
            <a:r>
              <a:rPr lang="en-US" altLang="en-US" dirty="0"/>
              <a:t>urability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effects of successful transactions must persist.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To guarantee the correctness of the DB systems, </a:t>
            </a:r>
            <a:br>
              <a:rPr lang="en-US" altLang="en-US" dirty="0"/>
            </a:br>
            <a:r>
              <a:rPr lang="en-US" altLang="en-US" dirty="0"/>
              <a:t>ACID properties of each transaction must be maintained.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A9617F2C-ABAB-EFD3-2248-8D15B81F9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5926" y="274638"/>
            <a:ext cx="8793163" cy="1143000"/>
          </a:xfrm>
        </p:spPr>
        <p:txBody>
          <a:bodyPr/>
          <a:lstStyle/>
          <a:p>
            <a:r>
              <a:rPr lang="en-US" altLang="en-US" sz="3600"/>
              <a:t>Application Programs vs. Transactions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E6192BC0-D4F1-2DCC-F7C8-A5F76EDC60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8600" cy="4983163"/>
          </a:xfrm>
        </p:spPr>
        <p:txBody>
          <a:bodyPr>
            <a:normAutofit lnSpcReduction="10000"/>
          </a:bodyPr>
          <a:lstStyle/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b="1"/>
              <a:t>Application Program</a:t>
            </a:r>
          </a:p>
          <a:p>
            <a:pPr lvl="4">
              <a:lnSpc>
                <a:spcPct val="80000"/>
              </a:lnSpc>
              <a:tabLst>
                <a:tab pos="901700" algn="r"/>
                <a:tab pos="1076325" algn="l"/>
                <a:tab pos="1438275" algn="l"/>
              </a:tabLst>
            </a:pPr>
            <a:endParaRPr lang="en-US" altLang="en-US" b="1"/>
          </a:p>
          <a:p>
            <a:pPr>
              <a:lnSpc>
                <a:spcPct val="80000"/>
              </a:lnSpc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2000"/>
              <a:t>transfer $m from A to B</a:t>
            </a:r>
          </a:p>
          <a:p>
            <a:pPr lvl="4">
              <a:lnSpc>
                <a:spcPct val="80000"/>
              </a:lnSpc>
              <a:tabLst>
                <a:tab pos="901700" algn="r"/>
                <a:tab pos="1076325" algn="l"/>
                <a:tab pos="1438275" algn="l"/>
              </a:tabLst>
            </a:pPr>
            <a:endParaRPr lang="en-US" altLang="en-US" sz="1400" b="1"/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1 |	begin transaction {</a:t>
            </a:r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2 |		read A </a:t>
            </a:r>
            <a:r>
              <a:rPr lang="en-US" altLang="en-US" sz="1800">
                <a:sym typeface="Wingdings" panose="05000000000000000000" pitchFamily="2" charset="2"/>
              </a:rPr>
              <a:t> </a:t>
            </a:r>
            <a:r>
              <a:rPr lang="en-US" altLang="en-US" sz="1800" b="1">
                <a:sym typeface="Wingdings" panose="05000000000000000000" pitchFamily="2" charset="2"/>
              </a:rPr>
              <a:t>x</a:t>
            </a:r>
            <a:endParaRPr lang="en-US" altLang="en-US" sz="1800" b="1"/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		3 |		</a:t>
            </a:r>
            <a:r>
              <a:rPr lang="en-US" altLang="en-US" sz="1800" b="1"/>
              <a:t>x</a:t>
            </a:r>
            <a:r>
              <a:rPr lang="en-US" altLang="en-US" sz="1800"/>
              <a:t> </a:t>
            </a:r>
            <a:r>
              <a:rPr lang="en-US" altLang="en-US" sz="1800">
                <a:sym typeface="Wingdings" panose="05000000000000000000" pitchFamily="2" charset="2"/>
              </a:rPr>
              <a:t> </a:t>
            </a:r>
            <a:r>
              <a:rPr lang="en-US" altLang="en-US" sz="1800" b="1">
                <a:sym typeface="Wingdings" panose="05000000000000000000" pitchFamily="2" charset="2"/>
              </a:rPr>
              <a:t>x – m</a:t>
            </a:r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4 |		</a:t>
            </a:r>
            <a:r>
              <a:rPr lang="en-US" altLang="en-US" sz="1800" b="1"/>
              <a:t>x </a:t>
            </a:r>
            <a:r>
              <a:rPr lang="en-US" altLang="en-US" sz="1800">
                <a:sym typeface="Wingdings" panose="05000000000000000000" pitchFamily="2" charset="2"/>
              </a:rPr>
              <a:t> </a:t>
            </a:r>
            <a:r>
              <a:rPr lang="en-US" altLang="en-US" sz="1800"/>
              <a:t>write A</a:t>
            </a:r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5 |		read B </a:t>
            </a:r>
            <a:r>
              <a:rPr lang="en-US" altLang="en-US" sz="1800">
                <a:sym typeface="Wingdings" panose="05000000000000000000" pitchFamily="2" charset="2"/>
              </a:rPr>
              <a:t> </a:t>
            </a:r>
            <a:r>
              <a:rPr lang="en-US" altLang="en-US" sz="1800" b="1">
                <a:sym typeface="Wingdings" panose="05000000000000000000" pitchFamily="2" charset="2"/>
              </a:rPr>
              <a:t>y</a:t>
            </a:r>
            <a:endParaRPr lang="en-US" altLang="en-US" sz="1800" b="1"/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		6 |		</a:t>
            </a:r>
            <a:r>
              <a:rPr lang="en-US" altLang="en-US" sz="1800" b="1"/>
              <a:t>y </a:t>
            </a:r>
            <a:r>
              <a:rPr lang="en-US" altLang="en-US" sz="1800">
                <a:sym typeface="Wingdings" panose="05000000000000000000" pitchFamily="2" charset="2"/>
              </a:rPr>
              <a:t></a:t>
            </a:r>
            <a:r>
              <a:rPr lang="en-US" altLang="en-US" sz="1800" b="1">
                <a:sym typeface="Wingdings" panose="05000000000000000000" pitchFamily="2" charset="2"/>
              </a:rPr>
              <a:t> y + m</a:t>
            </a:r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7 |		</a:t>
            </a:r>
            <a:r>
              <a:rPr lang="en-US" altLang="en-US" sz="1800" b="1"/>
              <a:t>y</a:t>
            </a:r>
            <a:r>
              <a:rPr lang="en-US" altLang="en-US" sz="1800"/>
              <a:t> </a:t>
            </a:r>
            <a:r>
              <a:rPr lang="en-US" altLang="en-US" sz="1800">
                <a:sym typeface="Wingdings" panose="05000000000000000000" pitchFamily="2" charset="2"/>
              </a:rPr>
              <a:t> </a:t>
            </a:r>
            <a:r>
              <a:rPr lang="en-US" altLang="en-US" sz="1800"/>
              <a:t>write B</a:t>
            </a:r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8 |		commit work</a:t>
            </a:r>
          </a:p>
          <a:p>
            <a:pPr marL="603250" lvl="1" indent="-146050">
              <a:lnSpc>
                <a:spcPct val="80000"/>
              </a:lnSpc>
              <a:buNone/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 		9 |	} end transaction</a:t>
            </a:r>
          </a:p>
          <a:p>
            <a:pPr lvl="4">
              <a:lnSpc>
                <a:spcPct val="80000"/>
              </a:lnSpc>
              <a:tabLst>
                <a:tab pos="901700" algn="r"/>
                <a:tab pos="1076325" algn="l"/>
                <a:tab pos="1438275" algn="l"/>
              </a:tabLst>
            </a:pPr>
            <a:endParaRPr lang="en-US" altLang="en-US" sz="1200"/>
          </a:p>
          <a:p>
            <a:pPr>
              <a:lnSpc>
                <a:spcPct val="80000"/>
              </a:lnSpc>
              <a:tabLst>
                <a:tab pos="901700" algn="r"/>
                <a:tab pos="1076325" algn="l"/>
                <a:tab pos="1438275" algn="l"/>
              </a:tabLst>
            </a:pPr>
            <a:r>
              <a:rPr lang="en-US" altLang="en-US" sz="1800"/>
              <a:t>Calculation operations and variables are local to application programs only; the DBMS does not have knowledge about them.</a:t>
            </a:r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7AE519BA-C05C-6A0C-AA34-05AC62C2D65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1" y="1600201"/>
            <a:ext cx="4308475" cy="4525963"/>
          </a:xfrm>
        </p:spPr>
        <p:txBody>
          <a:bodyPr/>
          <a:lstStyle/>
          <a:p>
            <a:pPr algn="ctr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2400" b="1"/>
              <a:t>Transaction in the DBMS</a:t>
            </a:r>
            <a:endParaRPr lang="en-US" altLang="en-US" sz="2400"/>
          </a:p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endParaRPr lang="en-US" altLang="en-US" sz="2400"/>
          </a:p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Only some operations are concerned to the DBMS.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1800"/>
              <a:t>read/write operations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1800"/>
              <a:t>begin/end transactions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1800"/>
              <a:t>commit work / rollback work</a:t>
            </a:r>
          </a:p>
          <a:p>
            <a:pPr lvl="4">
              <a:lnSpc>
                <a:spcPct val="80000"/>
              </a:lnSpc>
              <a:tabLst>
                <a:tab pos="1076325" algn="r"/>
                <a:tab pos="1344613" algn="l"/>
              </a:tabLst>
            </a:pPr>
            <a:endParaRPr lang="en-US" altLang="en-US" sz="1400"/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1 |	</a:t>
            </a:r>
            <a:r>
              <a:rPr lang="en-US" altLang="en-US" sz="1800" b="1"/>
              <a:t>begin transaction</a:t>
            </a:r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2 |	</a:t>
            </a:r>
            <a:r>
              <a:rPr lang="en-US" altLang="en-US" sz="1800" b="1"/>
              <a:t>read A</a:t>
            </a:r>
            <a:endParaRPr lang="en-US" altLang="en-US" sz="1800"/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4 |	</a:t>
            </a:r>
            <a:r>
              <a:rPr lang="en-US" altLang="en-US" sz="1800" b="1"/>
              <a:t>write A</a:t>
            </a:r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5 |	</a:t>
            </a:r>
            <a:r>
              <a:rPr lang="en-US" altLang="en-US" sz="1800" b="1"/>
              <a:t>read B</a:t>
            </a:r>
            <a:endParaRPr lang="en-US" altLang="en-US" sz="1800"/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7 |	</a:t>
            </a:r>
            <a:r>
              <a:rPr lang="en-US" altLang="en-US" sz="1800" b="1"/>
              <a:t>write B</a:t>
            </a:r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8 |	</a:t>
            </a:r>
            <a:r>
              <a:rPr lang="en-US" altLang="en-US" sz="1800" b="1"/>
              <a:t>commit work</a:t>
            </a:r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r>
              <a:rPr lang="en-US" altLang="en-US" sz="1800"/>
              <a:t> 		9 |	</a:t>
            </a:r>
            <a:r>
              <a:rPr lang="en-US" altLang="en-US" sz="1800" b="1"/>
              <a:t>end transaction</a:t>
            </a:r>
          </a:p>
          <a:p>
            <a:pPr lvl="1">
              <a:lnSpc>
                <a:spcPct val="80000"/>
              </a:lnSpc>
              <a:buNone/>
              <a:tabLst>
                <a:tab pos="1076325" algn="r"/>
                <a:tab pos="1344613" algn="l"/>
              </a:tabLst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A465BEC5-4501-E093-DD79-12F203EB9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5926" y="274638"/>
            <a:ext cx="8793163" cy="1143000"/>
          </a:xfrm>
        </p:spPr>
        <p:txBody>
          <a:bodyPr/>
          <a:lstStyle/>
          <a:p>
            <a:r>
              <a:rPr lang="en-US" altLang="en-US" sz="3600" b="1"/>
              <a:t>A</a:t>
            </a:r>
            <a:r>
              <a:rPr lang="en-US" altLang="en-US" sz="3600"/>
              <a:t>tomicity of a transaction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0E75C584-038E-BDBE-F3F9-586C78F3A2F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8600" cy="4983163"/>
          </a:xfrm>
        </p:spPr>
        <p:txBody>
          <a:bodyPr/>
          <a:lstStyle/>
          <a:p>
            <a:pPr marL="174625" indent="-174625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400"/>
              <a:t>Transaction </a:t>
            </a:r>
            <a:r>
              <a:rPr lang="en-US" altLang="en-US" sz="2400" b="1"/>
              <a:t>T</a:t>
            </a:r>
            <a:r>
              <a:rPr lang="en-US" altLang="en-US" sz="2400"/>
              <a:t>:</a:t>
            </a:r>
          </a:p>
          <a:p>
            <a:pPr marL="603250" lvl="1" indent="-239713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000"/>
              <a:t>transfer $m from A to B</a:t>
            </a:r>
          </a:p>
          <a:p>
            <a:pPr lvl="4">
              <a:lnSpc>
                <a:spcPct val="80000"/>
              </a:lnSpc>
              <a:tabLst>
                <a:tab pos="901700" algn="r"/>
                <a:tab pos="1250950" algn="l"/>
              </a:tabLst>
            </a:pPr>
            <a:endParaRPr lang="en-US" altLang="en-US" sz="1600" b="1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1 |	</a:t>
            </a:r>
            <a:r>
              <a:rPr lang="en-US" altLang="en-US" b="1"/>
              <a:t>begin transaction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2 |	</a:t>
            </a:r>
            <a:r>
              <a:rPr lang="en-US" altLang="en-US" b="1"/>
              <a:t>read A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x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3 |	x </a:t>
            </a:r>
            <a:r>
              <a:rPr lang="en-US" altLang="en-US">
                <a:sym typeface="Wingdings" panose="05000000000000000000" pitchFamily="2" charset="2"/>
              </a:rPr>
              <a:t> x –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4 |	x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A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5 |	</a:t>
            </a:r>
            <a:r>
              <a:rPr lang="en-US" altLang="en-US" b="1"/>
              <a:t>read B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y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6 |	y </a:t>
            </a:r>
            <a:r>
              <a:rPr lang="en-US" altLang="en-US">
                <a:sym typeface="Wingdings" panose="05000000000000000000" pitchFamily="2" charset="2"/>
              </a:rPr>
              <a:t> y +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7 |	y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B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8 |	</a:t>
            </a:r>
            <a:r>
              <a:rPr lang="en-US" altLang="en-US" b="1"/>
              <a:t>commit work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9 |	</a:t>
            </a:r>
            <a:r>
              <a:rPr lang="en-US" altLang="en-US" b="1"/>
              <a:t>end transaction</a:t>
            </a:r>
            <a:endParaRPr lang="en-US" altLang="en-US" sz="2000" b="1"/>
          </a:p>
        </p:txBody>
      </p:sp>
      <p:sp>
        <p:nvSpPr>
          <p:cNvPr id="155652" name="Rectangle 4">
            <a:extLst>
              <a:ext uri="{FF2B5EF4-FFF2-40B4-BE49-F238E27FC236}">
                <a16:creationId xmlns:a16="http://schemas.microsoft.com/office/drawing/2014/main" id="{592F05AF-391D-E0A5-01AA-B319177A645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1" y="1600201"/>
            <a:ext cx="4175125" cy="4525963"/>
          </a:xfrm>
        </p:spPr>
        <p:txBody>
          <a:bodyPr/>
          <a:lstStyle/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Atomicity of a transaction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If the DBMS cannot complete every steps of </a:t>
            </a:r>
            <a:br>
              <a:rPr lang="en-US" altLang="en-US" sz="2000"/>
            </a:br>
            <a:r>
              <a:rPr lang="en-US" altLang="en-US" sz="2000"/>
              <a:t>a transaction, it must undo the effect of every steps </a:t>
            </a:r>
            <a:br>
              <a:rPr lang="en-US" altLang="en-US" sz="2000"/>
            </a:br>
            <a:r>
              <a:rPr lang="en-US" altLang="en-US" sz="2000"/>
              <a:t>that have been completed.</a:t>
            </a:r>
          </a:p>
          <a:p>
            <a:pPr lvl="4">
              <a:lnSpc>
                <a:spcPct val="80000"/>
              </a:lnSpc>
              <a:tabLst>
                <a:tab pos="1076325" algn="r"/>
                <a:tab pos="1344613" algn="l"/>
              </a:tabLst>
            </a:pPr>
            <a:endParaRPr lang="en-US" altLang="en-US" sz="1600"/>
          </a:p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E.g.,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Suppose that the DBMS run Transaction T (on the left) up to Step 5 and then the DBMS crashes. 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After the DBMS restarts, </a:t>
            </a:r>
            <a:br>
              <a:rPr lang="en-US" altLang="en-US" sz="2000"/>
            </a:br>
            <a:r>
              <a:rPr lang="en-US" altLang="en-US" sz="2000"/>
              <a:t>it must cancel (undo) the effect of Step 1-5 in the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07FE9D02-6D15-7A46-0DA6-79B37CB86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5926" y="274638"/>
            <a:ext cx="8793163" cy="1143000"/>
          </a:xfrm>
        </p:spPr>
        <p:txBody>
          <a:bodyPr/>
          <a:lstStyle/>
          <a:p>
            <a:r>
              <a:rPr lang="en-US" altLang="en-US" sz="3600" b="1"/>
              <a:t>C</a:t>
            </a:r>
            <a:r>
              <a:rPr lang="en-US" altLang="en-US" sz="3600"/>
              <a:t>onsistency of a transaction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1FC77B32-682A-4B4B-8F4D-BD2A1EBE3E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8600" cy="4983163"/>
          </a:xfrm>
        </p:spPr>
        <p:txBody>
          <a:bodyPr/>
          <a:lstStyle/>
          <a:p>
            <a:pPr marL="174625" indent="-174625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400"/>
              <a:t>Transaction </a:t>
            </a:r>
            <a:r>
              <a:rPr lang="en-US" altLang="en-US" sz="2400" b="1"/>
              <a:t>T</a:t>
            </a:r>
            <a:r>
              <a:rPr lang="en-US" altLang="en-US" sz="2400"/>
              <a:t>:</a:t>
            </a:r>
          </a:p>
          <a:p>
            <a:pPr marL="603250" lvl="1" indent="-239713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000"/>
              <a:t>transfer $m from A to B</a:t>
            </a:r>
          </a:p>
          <a:p>
            <a:pPr lvl="4">
              <a:lnSpc>
                <a:spcPct val="80000"/>
              </a:lnSpc>
              <a:tabLst>
                <a:tab pos="901700" algn="r"/>
                <a:tab pos="1250950" algn="l"/>
              </a:tabLst>
            </a:pPr>
            <a:endParaRPr lang="en-US" altLang="en-US" sz="1600" b="1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1 |	</a:t>
            </a:r>
            <a:r>
              <a:rPr lang="en-US" altLang="en-US" b="1"/>
              <a:t>begin transaction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2 |	</a:t>
            </a:r>
            <a:r>
              <a:rPr lang="en-US" altLang="en-US" b="1"/>
              <a:t>read A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x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3 |	x </a:t>
            </a:r>
            <a:r>
              <a:rPr lang="en-US" altLang="en-US">
                <a:sym typeface="Wingdings" panose="05000000000000000000" pitchFamily="2" charset="2"/>
              </a:rPr>
              <a:t> x –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4 |	x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A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5 |	</a:t>
            </a:r>
            <a:r>
              <a:rPr lang="en-US" altLang="en-US" b="1"/>
              <a:t>read B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y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6 |	y </a:t>
            </a:r>
            <a:r>
              <a:rPr lang="en-US" altLang="en-US">
                <a:sym typeface="Wingdings" panose="05000000000000000000" pitchFamily="2" charset="2"/>
              </a:rPr>
              <a:t> y +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7 |	y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B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8 |	</a:t>
            </a:r>
            <a:r>
              <a:rPr lang="en-US" altLang="en-US" b="1"/>
              <a:t>commit work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9 |	</a:t>
            </a:r>
            <a:r>
              <a:rPr lang="en-US" altLang="en-US" b="1"/>
              <a:t>end transaction</a:t>
            </a:r>
          </a:p>
        </p:txBody>
      </p:sp>
      <p:sp>
        <p:nvSpPr>
          <p:cNvPr id="156676" name="Rectangle 4">
            <a:extLst>
              <a:ext uri="{FF2B5EF4-FFF2-40B4-BE49-F238E27FC236}">
                <a16:creationId xmlns:a16="http://schemas.microsoft.com/office/drawing/2014/main" id="{53661EA4-8E7B-6920-DF99-3B5A76F4220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26151" y="1600201"/>
            <a:ext cx="4467225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Consistency of a transaction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The DBMS must maintain the consistency of the database.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Require supports from applications and users.</a:t>
            </a:r>
          </a:p>
          <a:p>
            <a:pPr lvl="4">
              <a:lnSpc>
                <a:spcPct val="80000"/>
              </a:lnSpc>
              <a:tabLst>
                <a:tab pos="1076325" algn="r"/>
                <a:tab pos="1344613" algn="l"/>
              </a:tabLst>
            </a:pPr>
            <a:endParaRPr lang="en-US" altLang="en-US" sz="1600"/>
          </a:p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E.g.,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if A+B = C before </a:t>
            </a:r>
            <a:br>
              <a:rPr lang="en-US" altLang="en-US" sz="2000"/>
            </a:br>
            <a:r>
              <a:rPr lang="en-US" altLang="en-US" sz="2000"/>
              <a:t>Transaction T begins,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then A+B must = C after </a:t>
            </a:r>
            <a:br>
              <a:rPr lang="en-US" altLang="en-US" sz="2000"/>
            </a:br>
            <a:r>
              <a:rPr lang="en-US" altLang="en-US" sz="2000"/>
              <a:t>Transaction T ends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because the money is transferred between </a:t>
            </a:r>
            <a:br>
              <a:rPr lang="en-US" altLang="en-US" sz="2000"/>
            </a:br>
            <a:r>
              <a:rPr lang="en-US" altLang="en-US" sz="2000"/>
              <a:t>these two accounts only.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However, during Step 5-6, </a:t>
            </a:r>
            <a:br>
              <a:rPr lang="en-US" altLang="en-US" sz="2000"/>
            </a:br>
            <a:r>
              <a:rPr lang="en-US" altLang="en-US" sz="2000"/>
              <a:t>A+B not = C.  This is 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86EDCA39-76E3-2F86-D198-69C0EB80E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5926" y="274638"/>
            <a:ext cx="8793163" cy="1143000"/>
          </a:xfrm>
        </p:spPr>
        <p:txBody>
          <a:bodyPr/>
          <a:lstStyle/>
          <a:p>
            <a:r>
              <a:rPr lang="en-US" altLang="en-US" sz="3600" b="1"/>
              <a:t>I</a:t>
            </a:r>
            <a:r>
              <a:rPr lang="en-US" altLang="en-US" sz="3600"/>
              <a:t>solation of a transaction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8A2BEE96-CB93-0504-7280-2F1E7F82938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8600" cy="4983163"/>
          </a:xfrm>
        </p:spPr>
        <p:txBody>
          <a:bodyPr/>
          <a:lstStyle/>
          <a:p>
            <a:pPr marL="174625" indent="-174625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400"/>
              <a:t>Transaction </a:t>
            </a:r>
            <a:r>
              <a:rPr lang="en-US" altLang="en-US" sz="2400" b="1"/>
              <a:t>T</a:t>
            </a:r>
            <a:r>
              <a:rPr lang="en-US" altLang="en-US" sz="2400"/>
              <a:t>:</a:t>
            </a:r>
          </a:p>
          <a:p>
            <a:pPr marL="603250" lvl="1" indent="-239713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000"/>
              <a:t>transfer $m from A to B</a:t>
            </a:r>
          </a:p>
          <a:p>
            <a:pPr lvl="4">
              <a:lnSpc>
                <a:spcPct val="80000"/>
              </a:lnSpc>
              <a:tabLst>
                <a:tab pos="901700" algn="r"/>
                <a:tab pos="1250950" algn="l"/>
              </a:tabLst>
            </a:pPr>
            <a:endParaRPr lang="en-US" altLang="en-US" sz="1600" b="1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1 |	</a:t>
            </a:r>
            <a:r>
              <a:rPr lang="en-US" altLang="en-US" b="1"/>
              <a:t>begin transaction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2 |	</a:t>
            </a:r>
            <a:r>
              <a:rPr lang="en-US" altLang="en-US" b="1"/>
              <a:t>read A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x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3 |	x </a:t>
            </a:r>
            <a:r>
              <a:rPr lang="en-US" altLang="en-US">
                <a:sym typeface="Wingdings" panose="05000000000000000000" pitchFamily="2" charset="2"/>
              </a:rPr>
              <a:t> x –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4 |	x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A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5 |	</a:t>
            </a:r>
            <a:r>
              <a:rPr lang="en-US" altLang="en-US" b="1"/>
              <a:t>read B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y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6 |	y </a:t>
            </a:r>
            <a:r>
              <a:rPr lang="en-US" altLang="en-US">
                <a:sym typeface="Wingdings" panose="05000000000000000000" pitchFamily="2" charset="2"/>
              </a:rPr>
              <a:t> y +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7 |	y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B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8 |	</a:t>
            </a:r>
            <a:r>
              <a:rPr lang="en-US" altLang="en-US" b="1"/>
              <a:t>commit work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9 |	</a:t>
            </a:r>
            <a:r>
              <a:rPr lang="en-US" altLang="en-US" b="1"/>
              <a:t>end transaction</a:t>
            </a:r>
          </a:p>
        </p:txBody>
      </p:sp>
      <p:sp>
        <p:nvSpPr>
          <p:cNvPr id="157700" name="Rectangle 4">
            <a:extLst>
              <a:ext uri="{FF2B5EF4-FFF2-40B4-BE49-F238E27FC236}">
                <a16:creationId xmlns:a16="http://schemas.microsoft.com/office/drawing/2014/main" id="{4D179630-7207-01B3-25F5-EDC9D3A0743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26150" y="1600201"/>
            <a:ext cx="4305300" cy="4525963"/>
          </a:xfrm>
        </p:spPr>
        <p:txBody>
          <a:bodyPr/>
          <a:lstStyle/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Isolation of a transaction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During the execution of </a:t>
            </a:r>
            <a:br>
              <a:rPr lang="en-US" altLang="en-US" sz="2000"/>
            </a:br>
            <a:r>
              <a:rPr lang="en-US" altLang="en-US" sz="2000"/>
              <a:t>the transaction, no other transactions can see the effect of its execution until </a:t>
            </a:r>
            <a:br>
              <a:rPr lang="en-US" altLang="en-US" sz="2000"/>
            </a:br>
            <a:r>
              <a:rPr lang="en-US" altLang="en-US" sz="2000"/>
              <a:t>the transaction completes.</a:t>
            </a:r>
          </a:p>
          <a:p>
            <a:pPr lvl="4">
              <a:lnSpc>
                <a:spcPct val="80000"/>
              </a:lnSpc>
              <a:tabLst>
                <a:tab pos="1076325" algn="r"/>
                <a:tab pos="1344613" algn="l"/>
              </a:tabLst>
            </a:pPr>
            <a:endParaRPr lang="en-US" altLang="en-US" sz="1600"/>
          </a:p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E.g.,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If there is Transaction S </a:t>
            </a:r>
            <a:br>
              <a:rPr lang="en-US" altLang="en-US" sz="2000"/>
            </a:br>
            <a:r>
              <a:rPr lang="en-US" altLang="en-US" sz="2000"/>
              <a:t>trying to compute A+B while Transaction T is executing Step 5-6, the result of A+B </a:t>
            </a:r>
            <a:br>
              <a:rPr lang="en-US" altLang="en-US" sz="2000"/>
            </a:br>
            <a:r>
              <a:rPr lang="en-US" altLang="en-US" sz="2000"/>
              <a:t>will be incorrect.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The DBMS will not allow this to happen.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D9E060CA-2083-79DA-AEEA-ADE8DC68E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5926" y="274638"/>
            <a:ext cx="8793163" cy="1143000"/>
          </a:xfrm>
        </p:spPr>
        <p:txBody>
          <a:bodyPr/>
          <a:lstStyle/>
          <a:p>
            <a:r>
              <a:rPr lang="en-US" altLang="en-US" sz="3600" b="1"/>
              <a:t>D</a:t>
            </a:r>
            <a:r>
              <a:rPr lang="en-US" altLang="en-US" sz="3600"/>
              <a:t>urability of a transaction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B23E5D3A-8335-B435-6710-C115C8F3F57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8600" cy="4983163"/>
          </a:xfrm>
        </p:spPr>
        <p:txBody>
          <a:bodyPr/>
          <a:lstStyle/>
          <a:p>
            <a:pPr marL="174625" indent="-174625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400"/>
              <a:t>Transaction </a:t>
            </a:r>
            <a:r>
              <a:rPr lang="en-US" altLang="en-US" sz="2400" b="1"/>
              <a:t>T</a:t>
            </a:r>
            <a:r>
              <a:rPr lang="en-US" altLang="en-US" sz="2400"/>
              <a:t>:</a:t>
            </a:r>
          </a:p>
          <a:p>
            <a:pPr marL="603250" lvl="1" indent="-239713">
              <a:lnSpc>
                <a:spcPct val="80000"/>
              </a:lnSpc>
              <a:tabLst>
                <a:tab pos="901700" algn="r"/>
                <a:tab pos="1250950" algn="l"/>
              </a:tabLst>
            </a:pPr>
            <a:r>
              <a:rPr lang="en-US" altLang="en-US" sz="2000"/>
              <a:t>transfer $m from A to B</a:t>
            </a:r>
          </a:p>
          <a:p>
            <a:pPr lvl="4">
              <a:lnSpc>
                <a:spcPct val="80000"/>
              </a:lnSpc>
              <a:tabLst>
                <a:tab pos="901700" algn="r"/>
                <a:tab pos="1250950" algn="l"/>
              </a:tabLst>
            </a:pPr>
            <a:endParaRPr lang="en-US" altLang="en-US" sz="1600" b="1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1 |	</a:t>
            </a:r>
            <a:r>
              <a:rPr lang="en-US" altLang="en-US" b="1"/>
              <a:t>begin transaction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2 |	</a:t>
            </a:r>
            <a:r>
              <a:rPr lang="en-US" altLang="en-US" b="1"/>
              <a:t>read A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x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3 |	x </a:t>
            </a:r>
            <a:r>
              <a:rPr lang="en-US" altLang="en-US">
                <a:sym typeface="Wingdings" panose="05000000000000000000" pitchFamily="2" charset="2"/>
              </a:rPr>
              <a:t> x –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4 |	x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A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5 |	</a:t>
            </a:r>
            <a:r>
              <a:rPr lang="en-US" altLang="en-US" b="1"/>
              <a:t>read B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y</a:t>
            </a:r>
            <a:endParaRPr lang="en-US" altLang="en-US"/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		6 |	y </a:t>
            </a:r>
            <a:r>
              <a:rPr lang="en-US" altLang="en-US">
                <a:sym typeface="Wingdings" panose="05000000000000000000" pitchFamily="2" charset="2"/>
              </a:rPr>
              <a:t> y + m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7 |	y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 b="1"/>
              <a:t>write B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8 |	</a:t>
            </a:r>
            <a:r>
              <a:rPr lang="en-US" altLang="en-US" b="1"/>
              <a:t>commit work</a:t>
            </a:r>
          </a:p>
          <a:p>
            <a:pPr marL="603250" lvl="1" indent="-239713">
              <a:lnSpc>
                <a:spcPct val="80000"/>
              </a:lnSpc>
              <a:buNone/>
              <a:tabLst>
                <a:tab pos="901700" algn="r"/>
                <a:tab pos="1250950" algn="l"/>
              </a:tabLst>
            </a:pPr>
            <a:r>
              <a:rPr lang="en-US" altLang="en-US"/>
              <a:t> 		9 |	</a:t>
            </a:r>
            <a:r>
              <a:rPr lang="en-US" altLang="en-US" b="1"/>
              <a:t>end transaction</a:t>
            </a:r>
          </a:p>
        </p:txBody>
      </p:sp>
      <p:sp>
        <p:nvSpPr>
          <p:cNvPr id="158724" name="Rectangle 4">
            <a:extLst>
              <a:ext uri="{FF2B5EF4-FFF2-40B4-BE49-F238E27FC236}">
                <a16:creationId xmlns:a16="http://schemas.microsoft.com/office/drawing/2014/main" id="{E2E4676F-BFDB-0701-8DCD-3B47ED1FD33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26150" y="1600201"/>
            <a:ext cx="4305300" cy="4525963"/>
          </a:xfrm>
        </p:spPr>
        <p:txBody>
          <a:bodyPr/>
          <a:lstStyle/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Durability of a transaction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After a transaction completes, the effect of that transaction must persist in the database.</a:t>
            </a:r>
          </a:p>
          <a:p>
            <a:pPr lvl="4">
              <a:lnSpc>
                <a:spcPct val="80000"/>
              </a:lnSpc>
              <a:tabLst>
                <a:tab pos="1076325" algn="r"/>
                <a:tab pos="1344613" algn="l"/>
              </a:tabLst>
            </a:pPr>
            <a:endParaRPr lang="en-US" altLang="en-US" sz="1600"/>
          </a:p>
          <a:p>
            <a:pPr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400"/>
              <a:t>E.g.,</a:t>
            </a:r>
          </a:p>
          <a:p>
            <a:pPr lvl="1">
              <a:lnSpc>
                <a:spcPct val="80000"/>
              </a:lnSpc>
              <a:tabLst>
                <a:tab pos="1076325" algn="r"/>
                <a:tab pos="1344613" algn="l"/>
              </a:tabLst>
            </a:pPr>
            <a:r>
              <a:rPr lang="en-US" altLang="en-US" sz="2000"/>
              <a:t>After Step 8 (commit work) </a:t>
            </a:r>
            <a:br>
              <a:rPr lang="en-US" altLang="en-US" sz="2000"/>
            </a:br>
            <a:r>
              <a:rPr lang="en-US" altLang="en-US" sz="2000"/>
              <a:t>of Transaction T is completed successfully, the DBMS must guarantee that the transferred money must be moved from A to B permanently (until other transactions change the values of A and B again).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EFC595C1-0848-8ECC-6447-CE1F664D2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Issues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F0E1F2F0-5521-2E4B-3B07-CDB168DE9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49364"/>
            <a:ext cx="8229600" cy="52927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How to ensure ACID properties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For Atomicity &amp; Durability,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Wait until each transaction completes before writing its effect to persistent storage?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For Consistency,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It’s users/programmers’ responsibility 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For Isolation,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Allow only one transaction to run at a time. Performance?</a:t>
            </a:r>
          </a:p>
          <a:p>
            <a:pPr>
              <a:lnSpc>
                <a:spcPct val="80000"/>
              </a:lnSpc>
            </a:pPr>
            <a:r>
              <a:rPr lang="en-US" altLang="en-US"/>
              <a:t>But do not sacrifice efficiency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For Atomicity &amp; Durability,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Implement a recovery scheme; 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E.g., log-based recovery scheme.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For Isolation,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Implement a concurrency control protocol;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E.g., lock-based concurrency control protocol.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A6FC6960-C8FB-642B-ECF6-54AC9839F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1006475"/>
          </a:xfrm>
        </p:spPr>
        <p:txBody>
          <a:bodyPr/>
          <a:lstStyle/>
          <a:p>
            <a:r>
              <a:rPr lang="en-US" altLang="en-US"/>
              <a:t>Transaction Life Cycle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1A863CFA-B700-4E49-12C1-9EEE8C66B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057" y="960440"/>
            <a:ext cx="10972800" cy="5004931"/>
          </a:xfrm>
        </p:spPr>
        <p:txBody>
          <a:bodyPr>
            <a:normAutofit lnSpcReduction="10000"/>
          </a:bodyPr>
          <a:lstStyle/>
          <a:p>
            <a:pPr marL="182563" indent="-182563">
              <a:lnSpc>
                <a:spcPct val="80000"/>
              </a:lnSpc>
            </a:pPr>
            <a:r>
              <a:rPr lang="en-US" altLang="en-US" sz="2400" dirty="0"/>
              <a:t>Transaction States</a:t>
            </a:r>
          </a:p>
          <a:p>
            <a:pPr marL="625475" lvl="1" indent="-263525">
              <a:lnSpc>
                <a:spcPct val="80000"/>
              </a:lnSpc>
            </a:pPr>
            <a:r>
              <a:rPr lang="en-US" altLang="en-US" sz="2000" b="1" dirty="0"/>
              <a:t>Active State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Every transaction begins in its active state.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Every transaction stays in its active state during its execution (read/write data).</a:t>
            </a:r>
          </a:p>
          <a:p>
            <a:pPr marL="625475" lvl="1" indent="-263525">
              <a:lnSpc>
                <a:spcPct val="80000"/>
              </a:lnSpc>
            </a:pPr>
            <a:r>
              <a:rPr lang="en-US" altLang="en-US" sz="2000" b="1" dirty="0"/>
              <a:t>Prepared State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Every transaction moves to its prepared state when it is ready to commit (read/write data no more).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In the prepared state, the transaction forces all data it modified to persistent storage.</a:t>
            </a:r>
          </a:p>
          <a:p>
            <a:pPr marL="625475" lvl="1" indent="-263525">
              <a:lnSpc>
                <a:spcPct val="80000"/>
              </a:lnSpc>
            </a:pPr>
            <a:r>
              <a:rPr lang="en-US" altLang="en-US" sz="2000" b="1" dirty="0"/>
              <a:t>Committed State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Every transaction moves to its committed state after it successfully force all data it modified to persistent storage.</a:t>
            </a:r>
          </a:p>
          <a:p>
            <a:pPr marL="625475" lvl="1" indent="-263525">
              <a:lnSpc>
                <a:spcPct val="80000"/>
              </a:lnSpc>
            </a:pPr>
            <a:r>
              <a:rPr lang="en-US" altLang="en-US" sz="2000" b="1" dirty="0"/>
              <a:t>Failed State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Every transaction moves to its failed state when it is forced to fail in its active state or it unsuccessfully commits.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In the failed state, the transaction undoes its effect in the database. </a:t>
            </a:r>
          </a:p>
          <a:p>
            <a:pPr marL="625475" lvl="1" indent="-263525">
              <a:lnSpc>
                <a:spcPct val="80000"/>
              </a:lnSpc>
            </a:pPr>
            <a:r>
              <a:rPr lang="en-US" altLang="en-US" sz="2000" b="1" dirty="0"/>
              <a:t>Aborted State</a:t>
            </a:r>
          </a:p>
          <a:p>
            <a:pPr marL="990600" lvl="2" indent="-185738">
              <a:lnSpc>
                <a:spcPct val="80000"/>
              </a:lnSpc>
            </a:pPr>
            <a:r>
              <a:rPr lang="en-US" altLang="en-US" sz="1800" dirty="0"/>
              <a:t>Every transaction moves to its aborted state after it successfully undoes its effect in the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69E06C46-9B06-DE07-B5A1-09AC39986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Transaction Life Cycle</a:t>
            </a:r>
          </a:p>
        </p:txBody>
      </p:sp>
      <p:sp>
        <p:nvSpPr>
          <p:cNvPr id="141315" name="AutoShape 3">
            <a:extLst>
              <a:ext uri="{FF2B5EF4-FFF2-40B4-BE49-F238E27FC236}">
                <a16:creationId xmlns:a16="http://schemas.microsoft.com/office/drawing/2014/main" id="{C51A8B04-84CC-2191-4E11-D9A084A8E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716338"/>
            <a:ext cx="1368425" cy="576262"/>
          </a:xfrm>
          <a:prstGeom prst="chevron">
            <a:avLst>
              <a:gd name="adj" fmla="val 34158"/>
            </a:avLst>
          </a:prstGeom>
          <a:solidFill>
            <a:srgbClr val="CDFFD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begin</a:t>
            </a:r>
          </a:p>
        </p:txBody>
      </p:sp>
      <p:sp>
        <p:nvSpPr>
          <p:cNvPr id="141316" name="Oval 4">
            <a:extLst>
              <a:ext uri="{FF2B5EF4-FFF2-40B4-BE49-F238E27FC236}">
                <a16:creationId xmlns:a16="http://schemas.microsoft.com/office/drawing/2014/main" id="{8971072E-9CF7-B3E6-536E-3F83C845E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6" y="3716338"/>
            <a:ext cx="1152525" cy="576262"/>
          </a:xfrm>
          <a:prstGeom prst="ellipse">
            <a:avLst/>
          </a:prstGeom>
          <a:solidFill>
            <a:srgbClr val="FFFDC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active</a:t>
            </a:r>
          </a:p>
        </p:txBody>
      </p:sp>
      <p:sp>
        <p:nvSpPr>
          <p:cNvPr id="141317" name="Oval 5">
            <a:extLst>
              <a:ext uri="{FF2B5EF4-FFF2-40B4-BE49-F238E27FC236}">
                <a16:creationId xmlns:a16="http://schemas.microsoft.com/office/drawing/2014/main" id="{DB9916EF-7CF6-A3ED-163C-0E3F01E9F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26" y="4724401"/>
            <a:ext cx="1152525" cy="576263"/>
          </a:xfrm>
          <a:prstGeom prst="ellipse">
            <a:avLst/>
          </a:prstGeom>
          <a:solidFill>
            <a:srgbClr val="FFFDCD"/>
          </a:solidFill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aborted</a:t>
            </a:r>
          </a:p>
        </p:txBody>
      </p:sp>
      <p:sp>
        <p:nvSpPr>
          <p:cNvPr id="141318" name="Oval 6">
            <a:extLst>
              <a:ext uri="{FF2B5EF4-FFF2-40B4-BE49-F238E27FC236}">
                <a16:creationId xmlns:a16="http://schemas.microsoft.com/office/drawing/2014/main" id="{E8565676-8AB9-6C2F-57B2-C9F1CBCE4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9" y="4797426"/>
            <a:ext cx="1152525" cy="576263"/>
          </a:xfrm>
          <a:prstGeom prst="ellipse">
            <a:avLst/>
          </a:prstGeom>
          <a:solidFill>
            <a:srgbClr val="FFFDC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failed</a:t>
            </a:r>
          </a:p>
        </p:txBody>
      </p:sp>
      <p:sp>
        <p:nvSpPr>
          <p:cNvPr id="141319" name="Oval 7">
            <a:extLst>
              <a:ext uri="{FF2B5EF4-FFF2-40B4-BE49-F238E27FC236}">
                <a16:creationId xmlns:a16="http://schemas.microsoft.com/office/drawing/2014/main" id="{4077289E-DB3C-A299-ED21-A64D96B91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2708276"/>
            <a:ext cx="1295400" cy="936625"/>
          </a:xfrm>
          <a:prstGeom prst="ellipse">
            <a:avLst/>
          </a:prstGeom>
          <a:solidFill>
            <a:srgbClr val="FFFDC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prepare</a:t>
            </a:r>
          </a:p>
          <a:p>
            <a:pPr algn="ctr"/>
            <a:r>
              <a:rPr lang="en-US" altLang="en-US">
                <a:latin typeface="Tahoma" panose="020B0604030504040204" pitchFamily="34" charset="0"/>
              </a:rPr>
              <a:t>to commit</a:t>
            </a:r>
          </a:p>
        </p:txBody>
      </p:sp>
      <p:sp>
        <p:nvSpPr>
          <p:cNvPr id="141320" name="Oval 8">
            <a:extLst>
              <a:ext uri="{FF2B5EF4-FFF2-40B4-BE49-F238E27FC236}">
                <a16:creationId xmlns:a16="http://schemas.microsoft.com/office/drawing/2014/main" id="{86DDD117-8923-9F0F-1B11-5531A216C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3500438"/>
            <a:ext cx="1152525" cy="576262"/>
          </a:xfrm>
          <a:prstGeom prst="ellipse">
            <a:avLst/>
          </a:prstGeom>
          <a:solidFill>
            <a:srgbClr val="FFFDCD"/>
          </a:solidFill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committed</a:t>
            </a:r>
          </a:p>
        </p:txBody>
      </p:sp>
      <p:sp>
        <p:nvSpPr>
          <p:cNvPr id="141321" name="AutoShape 9">
            <a:extLst>
              <a:ext uri="{FF2B5EF4-FFF2-40B4-BE49-F238E27FC236}">
                <a16:creationId xmlns:a16="http://schemas.microsoft.com/office/drawing/2014/main" id="{40F0B0B9-7140-5EF3-3D9A-D01A49703245}"/>
              </a:ext>
            </a:extLst>
          </p:cNvPr>
          <p:cNvSpPr>
            <a:spLocks noChangeArrowheads="1"/>
          </p:cNvSpPr>
          <p:nvPr/>
        </p:nvSpPr>
        <p:spPr bwMode="auto">
          <a:xfrm rot="1587441">
            <a:off x="8970964" y="3730626"/>
            <a:ext cx="936625" cy="576263"/>
          </a:xfrm>
          <a:prstGeom prst="chevron">
            <a:avLst>
              <a:gd name="adj" fmla="val 40634"/>
            </a:avLst>
          </a:prstGeom>
          <a:solidFill>
            <a:srgbClr val="CDFFD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end</a:t>
            </a:r>
          </a:p>
        </p:txBody>
      </p:sp>
      <p:sp>
        <p:nvSpPr>
          <p:cNvPr id="141322" name="AutoShape 10">
            <a:extLst>
              <a:ext uri="{FF2B5EF4-FFF2-40B4-BE49-F238E27FC236}">
                <a16:creationId xmlns:a16="http://schemas.microsoft.com/office/drawing/2014/main" id="{EEA4A7F4-02A2-9BB6-B275-1F074EFAC482}"/>
              </a:ext>
            </a:extLst>
          </p:cNvPr>
          <p:cNvSpPr>
            <a:spLocks noChangeArrowheads="1"/>
          </p:cNvSpPr>
          <p:nvPr/>
        </p:nvSpPr>
        <p:spPr bwMode="auto">
          <a:xfrm rot="20298196">
            <a:off x="8972551" y="4567239"/>
            <a:ext cx="792163" cy="566737"/>
          </a:xfrm>
          <a:prstGeom prst="chevron">
            <a:avLst>
              <a:gd name="adj" fmla="val 21452"/>
            </a:avLst>
          </a:prstGeom>
          <a:solidFill>
            <a:srgbClr val="CDFFD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end</a:t>
            </a:r>
          </a:p>
        </p:txBody>
      </p:sp>
      <p:sp>
        <p:nvSpPr>
          <p:cNvPr id="141323" name="Freeform 11">
            <a:extLst>
              <a:ext uri="{FF2B5EF4-FFF2-40B4-BE49-F238E27FC236}">
                <a16:creationId xmlns:a16="http://schemas.microsoft.com/office/drawing/2014/main" id="{3CF3DDA1-039B-CC1E-C45D-AFA04B930AF9}"/>
              </a:ext>
            </a:extLst>
          </p:cNvPr>
          <p:cNvSpPr>
            <a:spLocks/>
          </p:cNvSpPr>
          <p:nvPr/>
        </p:nvSpPr>
        <p:spPr bwMode="auto">
          <a:xfrm>
            <a:off x="4745039" y="3313114"/>
            <a:ext cx="993775" cy="503237"/>
          </a:xfrm>
          <a:custGeom>
            <a:avLst/>
            <a:gdLst>
              <a:gd name="T0" fmla="*/ 0 w 626"/>
              <a:gd name="T1" fmla="*/ 317 h 317"/>
              <a:gd name="T2" fmla="*/ 250 w 626"/>
              <a:gd name="T3" fmla="*/ 150 h 317"/>
              <a:gd name="T4" fmla="*/ 626 w 626"/>
              <a:gd name="T5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26" h="317">
                <a:moveTo>
                  <a:pt x="0" y="317"/>
                </a:moveTo>
                <a:cubicBezTo>
                  <a:pt x="42" y="289"/>
                  <a:pt x="146" y="203"/>
                  <a:pt x="250" y="150"/>
                </a:cubicBezTo>
                <a:cubicBezTo>
                  <a:pt x="392" y="92"/>
                  <a:pt x="548" y="31"/>
                  <a:pt x="626" y="0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1324" name="Freeform 12">
            <a:extLst>
              <a:ext uri="{FF2B5EF4-FFF2-40B4-BE49-F238E27FC236}">
                <a16:creationId xmlns:a16="http://schemas.microsoft.com/office/drawing/2014/main" id="{1CF5CA5A-C6E3-C72C-765F-D2AA4DC3601B}"/>
              </a:ext>
            </a:extLst>
          </p:cNvPr>
          <p:cNvSpPr>
            <a:spLocks/>
          </p:cNvSpPr>
          <p:nvPr/>
        </p:nvSpPr>
        <p:spPr bwMode="auto">
          <a:xfrm>
            <a:off x="3817938" y="2659063"/>
            <a:ext cx="730250" cy="958850"/>
          </a:xfrm>
          <a:custGeom>
            <a:avLst/>
            <a:gdLst>
              <a:gd name="T0" fmla="*/ 133 w 460"/>
              <a:gd name="T1" fmla="*/ 596 h 604"/>
              <a:gd name="T2" fmla="*/ 8 w 460"/>
              <a:gd name="T3" fmla="*/ 237 h 604"/>
              <a:gd name="T4" fmla="*/ 83 w 460"/>
              <a:gd name="T5" fmla="*/ 45 h 604"/>
              <a:gd name="T6" fmla="*/ 366 w 460"/>
              <a:gd name="T7" fmla="*/ 28 h 604"/>
              <a:gd name="T8" fmla="*/ 450 w 460"/>
              <a:gd name="T9" fmla="*/ 212 h 604"/>
              <a:gd name="T10" fmla="*/ 308 w 460"/>
              <a:gd name="T11" fmla="*/ 604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60" h="604">
                <a:moveTo>
                  <a:pt x="133" y="596"/>
                </a:moveTo>
                <a:cubicBezTo>
                  <a:pt x="111" y="536"/>
                  <a:pt x="16" y="329"/>
                  <a:pt x="8" y="237"/>
                </a:cubicBezTo>
                <a:cubicBezTo>
                  <a:pt x="0" y="145"/>
                  <a:pt x="23" y="80"/>
                  <a:pt x="83" y="45"/>
                </a:cubicBezTo>
                <a:cubicBezTo>
                  <a:pt x="143" y="10"/>
                  <a:pt x="305" y="0"/>
                  <a:pt x="366" y="28"/>
                </a:cubicBezTo>
                <a:cubicBezTo>
                  <a:pt x="427" y="56"/>
                  <a:pt x="460" y="116"/>
                  <a:pt x="450" y="212"/>
                </a:cubicBezTo>
                <a:cubicBezTo>
                  <a:pt x="440" y="308"/>
                  <a:pt x="338" y="522"/>
                  <a:pt x="308" y="604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1325" name="Freeform 13">
            <a:extLst>
              <a:ext uri="{FF2B5EF4-FFF2-40B4-BE49-F238E27FC236}">
                <a16:creationId xmlns:a16="http://schemas.microsoft.com/office/drawing/2014/main" id="{3B0C8FE3-DA54-B504-BDFB-D782DA9BA390}"/>
              </a:ext>
            </a:extLst>
          </p:cNvPr>
          <p:cNvSpPr>
            <a:spLocks/>
          </p:cNvSpPr>
          <p:nvPr/>
        </p:nvSpPr>
        <p:spPr bwMode="auto">
          <a:xfrm>
            <a:off x="4319589" y="4346575"/>
            <a:ext cx="968375" cy="649288"/>
          </a:xfrm>
          <a:custGeom>
            <a:avLst/>
            <a:gdLst>
              <a:gd name="T0" fmla="*/ 0 w 610"/>
              <a:gd name="T1" fmla="*/ 0 h 409"/>
              <a:gd name="T2" fmla="*/ 276 w 610"/>
              <a:gd name="T3" fmla="*/ 301 h 409"/>
              <a:gd name="T4" fmla="*/ 610 w 610"/>
              <a:gd name="T5" fmla="*/ 409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0" h="409">
                <a:moveTo>
                  <a:pt x="0" y="0"/>
                </a:moveTo>
                <a:cubicBezTo>
                  <a:pt x="46" y="50"/>
                  <a:pt x="168" y="251"/>
                  <a:pt x="276" y="301"/>
                </a:cubicBezTo>
                <a:cubicBezTo>
                  <a:pt x="384" y="351"/>
                  <a:pt x="540" y="386"/>
                  <a:pt x="610" y="409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1326" name="Freeform 14">
            <a:extLst>
              <a:ext uri="{FF2B5EF4-FFF2-40B4-BE49-F238E27FC236}">
                <a16:creationId xmlns:a16="http://schemas.microsoft.com/office/drawing/2014/main" id="{59FA6CF4-D938-44CC-11D8-8136A68FD57A}"/>
              </a:ext>
            </a:extLst>
          </p:cNvPr>
          <p:cNvSpPr>
            <a:spLocks/>
          </p:cNvSpPr>
          <p:nvPr/>
        </p:nvSpPr>
        <p:spPr bwMode="auto">
          <a:xfrm>
            <a:off x="7156450" y="3206750"/>
            <a:ext cx="768350" cy="450850"/>
          </a:xfrm>
          <a:custGeom>
            <a:avLst/>
            <a:gdLst>
              <a:gd name="T0" fmla="*/ 0 w 484"/>
              <a:gd name="T1" fmla="*/ 42 h 284"/>
              <a:gd name="T2" fmla="*/ 225 w 484"/>
              <a:gd name="T3" fmla="*/ 67 h 284"/>
              <a:gd name="T4" fmla="*/ 484 w 484"/>
              <a:gd name="T5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4" h="284">
                <a:moveTo>
                  <a:pt x="0" y="42"/>
                </a:moveTo>
                <a:cubicBezTo>
                  <a:pt x="37" y="46"/>
                  <a:pt x="67" y="0"/>
                  <a:pt x="225" y="67"/>
                </a:cubicBezTo>
                <a:cubicBezTo>
                  <a:pt x="383" y="134"/>
                  <a:pt x="430" y="239"/>
                  <a:pt x="484" y="284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1327" name="Freeform 15">
            <a:extLst>
              <a:ext uri="{FF2B5EF4-FFF2-40B4-BE49-F238E27FC236}">
                <a16:creationId xmlns:a16="http://schemas.microsoft.com/office/drawing/2014/main" id="{BEA6EEB6-C3CB-B976-0417-C71B34A8F7DA}"/>
              </a:ext>
            </a:extLst>
          </p:cNvPr>
          <p:cNvSpPr>
            <a:spLocks/>
          </p:cNvSpPr>
          <p:nvPr/>
        </p:nvSpPr>
        <p:spPr bwMode="auto">
          <a:xfrm>
            <a:off x="6242051" y="3670300"/>
            <a:ext cx="455613" cy="1087438"/>
          </a:xfrm>
          <a:custGeom>
            <a:avLst/>
            <a:gdLst>
              <a:gd name="T0" fmla="*/ 225 w 287"/>
              <a:gd name="T1" fmla="*/ 0 h 685"/>
              <a:gd name="T2" fmla="*/ 250 w 287"/>
              <a:gd name="T3" fmla="*/ 334 h 685"/>
              <a:gd name="T4" fmla="*/ 0 w 287"/>
              <a:gd name="T5" fmla="*/ 685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7" h="685">
                <a:moveTo>
                  <a:pt x="225" y="0"/>
                </a:moveTo>
                <a:cubicBezTo>
                  <a:pt x="229" y="56"/>
                  <a:pt x="287" y="220"/>
                  <a:pt x="250" y="334"/>
                </a:cubicBezTo>
                <a:cubicBezTo>
                  <a:pt x="217" y="459"/>
                  <a:pt x="52" y="612"/>
                  <a:pt x="0" y="685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1328" name="Freeform 16">
            <a:extLst>
              <a:ext uri="{FF2B5EF4-FFF2-40B4-BE49-F238E27FC236}">
                <a16:creationId xmlns:a16="http://schemas.microsoft.com/office/drawing/2014/main" id="{CB05E303-6706-5448-B997-D4E21DA039A5}"/>
              </a:ext>
            </a:extLst>
          </p:cNvPr>
          <p:cNvSpPr>
            <a:spLocks/>
          </p:cNvSpPr>
          <p:nvPr/>
        </p:nvSpPr>
        <p:spPr bwMode="auto">
          <a:xfrm>
            <a:off x="6492876" y="5049839"/>
            <a:ext cx="1312863" cy="263525"/>
          </a:xfrm>
          <a:custGeom>
            <a:avLst/>
            <a:gdLst>
              <a:gd name="T0" fmla="*/ 0 w 827"/>
              <a:gd name="T1" fmla="*/ 91 h 166"/>
              <a:gd name="T2" fmla="*/ 368 w 827"/>
              <a:gd name="T3" fmla="*/ 158 h 166"/>
              <a:gd name="T4" fmla="*/ 827 w 827"/>
              <a:gd name="T5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7" h="166">
                <a:moveTo>
                  <a:pt x="0" y="91"/>
                </a:moveTo>
                <a:cubicBezTo>
                  <a:pt x="61" y="102"/>
                  <a:pt x="218" y="166"/>
                  <a:pt x="368" y="158"/>
                </a:cubicBezTo>
                <a:cubicBezTo>
                  <a:pt x="518" y="150"/>
                  <a:pt x="732" y="33"/>
                  <a:pt x="827" y="0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1329" name="Text Box 17">
            <a:extLst>
              <a:ext uri="{FF2B5EF4-FFF2-40B4-BE49-F238E27FC236}">
                <a16:creationId xmlns:a16="http://schemas.microsoft.com/office/drawing/2014/main" id="{0500D926-E286-0244-8FA2-F1B945544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1989138"/>
            <a:ext cx="200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insert</a:t>
            </a:r>
            <a:r>
              <a:rPr lang="en-US" altLang="en-US">
                <a:latin typeface="Tahoma" panose="020B0604030504040204" pitchFamily="34" charset="0"/>
              </a:rPr>
              <a:t> / </a:t>
            </a: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delete</a:t>
            </a:r>
            <a:r>
              <a:rPr lang="en-US" altLang="en-US">
                <a:latin typeface="Tahoma" panose="020B0604030504040204" pitchFamily="34" charset="0"/>
              </a:rPr>
              <a:t> ]</a:t>
            </a:r>
          </a:p>
          <a:p>
            <a:pPr algn="ctr"/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update</a:t>
            </a:r>
            <a:r>
              <a:rPr lang="en-US" altLang="en-US">
                <a:latin typeface="Tahoma" panose="020B0604030504040204" pitchFamily="34" charset="0"/>
              </a:rPr>
              <a:t> / </a:t>
            </a: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>
                <a:latin typeface="Tahoma" panose="020B0604030504040204" pitchFamily="34" charset="0"/>
              </a:rPr>
              <a:t> ]</a:t>
            </a:r>
          </a:p>
        </p:txBody>
      </p:sp>
      <p:sp>
        <p:nvSpPr>
          <p:cNvPr id="141330" name="Text Box 18">
            <a:extLst>
              <a:ext uri="{FF2B5EF4-FFF2-40B4-BE49-F238E27FC236}">
                <a16:creationId xmlns:a16="http://schemas.microsoft.com/office/drawing/2014/main" id="{13EA1302-7331-3047-7911-BD0E7885F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3644901"/>
            <a:ext cx="1243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commit</a:t>
            </a:r>
            <a:r>
              <a:rPr lang="en-US" altLang="en-US">
                <a:latin typeface="Tahoma" panose="020B0604030504040204" pitchFamily="34" charset="0"/>
              </a:rPr>
              <a:t> ]</a:t>
            </a:r>
          </a:p>
        </p:txBody>
      </p:sp>
      <p:sp>
        <p:nvSpPr>
          <p:cNvPr id="141331" name="Text Box 19">
            <a:extLst>
              <a:ext uri="{FF2B5EF4-FFF2-40B4-BE49-F238E27FC236}">
                <a16:creationId xmlns:a16="http://schemas.microsoft.com/office/drawing/2014/main" id="{4DE9903F-AED0-405F-9C54-DBD27AD25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2852738"/>
            <a:ext cx="2768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[ write to stable storage ]</a:t>
            </a:r>
          </a:p>
        </p:txBody>
      </p:sp>
      <p:sp>
        <p:nvSpPr>
          <p:cNvPr id="141332" name="Text Box 20">
            <a:extLst>
              <a:ext uri="{FF2B5EF4-FFF2-40B4-BE49-F238E27FC236}">
                <a16:creationId xmlns:a16="http://schemas.microsoft.com/office/drawing/2014/main" id="{572B5898-5261-9D20-88C9-B1C149522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445126"/>
            <a:ext cx="2166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[ cancel the effect ]</a:t>
            </a:r>
          </a:p>
        </p:txBody>
      </p:sp>
      <p:sp>
        <p:nvSpPr>
          <p:cNvPr id="141333" name="Text Box 21">
            <a:extLst>
              <a:ext uri="{FF2B5EF4-FFF2-40B4-BE49-F238E27FC236}">
                <a16:creationId xmlns:a16="http://schemas.microsoft.com/office/drawing/2014/main" id="{68841D2A-69B6-3CF3-0899-8140E593D04F}"/>
              </a:ext>
            </a:extLst>
          </p:cNvPr>
          <p:cNvSpPr txBox="1">
            <a:spLocks noChangeArrowheads="1"/>
          </p:cNvSpPr>
          <p:nvPr/>
        </p:nvSpPr>
        <p:spPr bwMode="auto">
          <a:xfrm rot="2603920">
            <a:off x="3541713" y="4883151"/>
            <a:ext cx="2138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rollback</a:t>
            </a:r>
            <a:r>
              <a:rPr lang="en-US" altLang="en-US">
                <a:latin typeface="Tahoma" panose="020B0604030504040204" pitchFamily="34" charset="0"/>
              </a:rPr>
              <a:t> / failure ]</a:t>
            </a:r>
          </a:p>
        </p:txBody>
      </p:sp>
      <p:sp>
        <p:nvSpPr>
          <p:cNvPr id="141334" name="Text Box 22">
            <a:extLst>
              <a:ext uri="{FF2B5EF4-FFF2-40B4-BE49-F238E27FC236}">
                <a16:creationId xmlns:a16="http://schemas.microsoft.com/office/drawing/2014/main" id="{090BCFA6-BDF0-118B-17E7-1465E92F6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4076701"/>
            <a:ext cx="1130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[ failure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000E11D1-72B7-2EE7-B53D-2B8624008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Transaction Schedules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3CDF4F44-88C3-EF0E-5EC8-992D8FE6630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282148"/>
            <a:ext cx="4165600" cy="51387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Transactions and Databases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The database sees each transaction as a list of operations (read/write/commit/abort).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Multiple transactions may execute their operations concurrently.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The list of operations of multiple transactions executed in the database is called “schedule”. 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</p:txBody>
      </p:sp>
      <p:sp>
        <p:nvSpPr>
          <p:cNvPr id="143364" name="Rectangle 4">
            <a:extLst>
              <a:ext uri="{FF2B5EF4-FFF2-40B4-BE49-F238E27FC236}">
                <a16:creationId xmlns:a16="http://schemas.microsoft.com/office/drawing/2014/main" id="{45D9958E-FE03-FD3F-0A3D-38D32068AA3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462588" y="1435100"/>
            <a:ext cx="4025900" cy="5057775"/>
          </a:xfrm>
        </p:spPr>
        <p:txBody>
          <a:bodyPr/>
          <a:lstStyle/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= Transaction </a:t>
            </a:r>
            <a:r>
              <a:rPr lang="en-US" altLang="en-US" sz="2000" dirty="0" err="1"/>
              <a:t>i</a:t>
            </a:r>
            <a:endParaRPr lang="en-US" altLang="en-US" sz="2000" dirty="0"/>
          </a:p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r>
              <a:rPr lang="en-US" altLang="en-US" sz="2000" dirty="0" err="1"/>
              <a:t>r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(A) =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reads data A</a:t>
            </a:r>
          </a:p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r>
              <a:rPr lang="en-US" altLang="en-US" sz="2000" dirty="0" err="1"/>
              <a:t>w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(A) = </a:t>
            </a:r>
            <a:r>
              <a:rPr lang="en-US" altLang="en-US" sz="2000" dirty="0" err="1"/>
              <a:t>T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writes data A</a:t>
            </a:r>
          </a:p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r>
              <a:rPr lang="en-US" altLang="en-US" sz="2000" dirty="0"/>
              <a:t>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/ a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= </a:t>
            </a:r>
            <a:r>
              <a:rPr lang="en-US" altLang="en-US" sz="2000" dirty="0" err="1"/>
              <a:t>Ti</a:t>
            </a:r>
            <a:r>
              <a:rPr lang="en-US" altLang="en-US" sz="2000" dirty="0"/>
              <a:t> commits / aborts</a:t>
            </a:r>
          </a:p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endParaRPr lang="en-US" altLang="en-US" sz="2000" dirty="0"/>
          </a:p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r>
              <a:rPr lang="en-US" altLang="en-US" sz="2000" dirty="0"/>
              <a:t>Schedule:</a:t>
            </a:r>
          </a:p>
          <a:p>
            <a:pPr>
              <a:lnSpc>
                <a:spcPct val="80000"/>
              </a:lnSpc>
              <a:buNone/>
              <a:tabLst>
                <a:tab pos="1073150" algn="l"/>
                <a:tab pos="2146300" algn="l"/>
              </a:tabLst>
            </a:pPr>
            <a:r>
              <a:rPr lang="en-US" altLang="en-US" sz="2000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(A),r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(B),r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(A),w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(A),w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(B),c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,c</a:t>
            </a:r>
            <a:r>
              <a:rPr lang="en-US" altLang="en-US" sz="2000" baseline="-25000" dirty="0"/>
              <a:t>1</a:t>
            </a:r>
            <a:endParaRPr lang="en-US" altLang="en-US" sz="2000" dirty="0"/>
          </a:p>
        </p:txBody>
      </p:sp>
      <p:graphicFrame>
        <p:nvGraphicFramePr>
          <p:cNvPr id="143365" name="Group 5">
            <a:extLst>
              <a:ext uri="{FF2B5EF4-FFF2-40B4-BE49-F238E27FC236}">
                <a16:creationId xmlns:a16="http://schemas.microsoft.com/office/drawing/2014/main" id="{A8DF2F84-7851-E661-2CBA-6DA0C85B7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890947"/>
              </p:ext>
            </p:extLst>
          </p:nvPr>
        </p:nvGraphicFramePr>
        <p:xfrm>
          <a:off x="10213749" y="3640818"/>
          <a:ext cx="1871662" cy="243840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380924311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4182243938"/>
                    </a:ext>
                  </a:extLst>
                </a:gridCol>
              </a:tblGrid>
              <a:tr h="157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877437"/>
                  </a:ext>
                </a:extLst>
              </a:tr>
              <a:tr h="300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78560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672888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029609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080260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24214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commit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52666"/>
                  </a:ext>
                </a:extLst>
              </a:tr>
              <a:tr h="29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commit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7748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F4507F2E-4A08-B571-72DD-7CC806376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Transaction Schedules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1BC25C97-1256-B2AF-B45B-5E48C77A4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Desirable Schedules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Serializable Schedules</a:t>
            </a:r>
          </a:p>
          <a:p>
            <a:pPr lvl="2"/>
            <a:r>
              <a:rPr lang="en-US" altLang="en-US"/>
              <a:t>Equivalent to a serial schedule</a:t>
            </a:r>
          </a:p>
          <a:p>
            <a:pPr lvl="2"/>
            <a:r>
              <a:rPr lang="en-US" altLang="en-US"/>
              <a:t>Guarantee isolation of transactions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Recoverable Schedules</a:t>
            </a:r>
          </a:p>
          <a:p>
            <a:pPr lvl="2"/>
            <a:r>
              <a:rPr lang="en-US" altLang="en-US"/>
              <a:t>Guarantee durability of successful transactions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70128683-3D96-5EEB-A03C-0D9651005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Types of Schedules </a:t>
            </a:r>
            <a:br>
              <a:rPr lang="en-US" altLang="en-US" sz="4000" dirty="0"/>
            </a:br>
            <a:r>
              <a:rPr lang="en-US" altLang="en-US" sz="4000" dirty="0"/>
              <a:t>in Term of Serializability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E968F691-2801-1613-0393-34011E3E3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Serial Schedules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Transactions execute serially.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Non-serial Schedules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Transactions do not execute serially.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Serializable Schedules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Equivalent to some serial schedules.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Non-serializable Schedules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 equivalent to any serial schedule.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7EEB4D40-7D76-181A-130A-5F2370279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Equivalence of Schedules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150D3252-DFEE-61D7-BB13-3FD38A43D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Equivalence of Schedules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Two schedules are equivalent if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(1) Both schedules contain the same set of transactions.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(2) Both schedules modify the database to the same final state.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(3) Corresponding transactions in both schedules see (read) the same database state.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(4) Corresponding transactions in both schedules modify (overwrite) the same database state.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Levels of Equivalency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“final state equivalence” – require properties: 1 and 2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“view equivalence” – requires properties: 1, 2, and 3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“conflict equivalence” – requires properties: 1, 2, 3, and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9BAFE297-55C2-930C-9CA3-33DA66035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715" y="-81189"/>
            <a:ext cx="10515600" cy="917023"/>
          </a:xfrm>
        </p:spPr>
        <p:txBody>
          <a:bodyPr/>
          <a:lstStyle/>
          <a:p>
            <a:r>
              <a:rPr lang="en-US" altLang="en-US" sz="4000"/>
              <a:t>A Final State Serializable Schedule</a:t>
            </a:r>
          </a:p>
        </p:txBody>
      </p:sp>
      <p:graphicFrame>
        <p:nvGraphicFramePr>
          <p:cNvPr id="144582" name="Group 198">
            <a:extLst>
              <a:ext uri="{FF2B5EF4-FFF2-40B4-BE49-F238E27FC236}">
                <a16:creationId xmlns:a16="http://schemas.microsoft.com/office/drawing/2014/main" id="{C89B2ECF-9C2E-9018-8D74-B657F6BF79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98271752"/>
              </p:ext>
            </p:extLst>
          </p:nvPr>
        </p:nvGraphicFramePr>
        <p:xfrm>
          <a:off x="2397353" y="1703162"/>
          <a:ext cx="1905000" cy="3230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427661972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2011420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184371261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515368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0266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9124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75684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508661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4777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5614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180559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036707"/>
                  </a:ext>
                </a:extLst>
              </a:tr>
            </a:tbl>
          </a:graphicData>
        </a:graphic>
      </p:graphicFrame>
      <p:graphicFrame>
        <p:nvGraphicFramePr>
          <p:cNvPr id="144706" name="Group 322">
            <a:extLst>
              <a:ext uri="{FF2B5EF4-FFF2-40B4-BE49-F238E27FC236}">
                <a16:creationId xmlns:a16="http://schemas.microsoft.com/office/drawing/2014/main" id="{3CD6FD2E-2D14-DF86-C544-98B5F45FADF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26605200"/>
              </p:ext>
            </p:extLst>
          </p:nvPr>
        </p:nvGraphicFramePr>
        <p:xfrm>
          <a:off x="4973865" y="1706336"/>
          <a:ext cx="1905000" cy="3228978"/>
        </p:xfrm>
        <a:graphic>
          <a:graphicData uri="http://schemas.openxmlformats.org/drawingml/2006/table">
            <a:tbl>
              <a:tblPr/>
              <a:tblGrid>
                <a:gridCol w="636588">
                  <a:extLst>
                    <a:ext uri="{9D8B030D-6E8A-4147-A177-3AD203B41FA5}">
                      <a16:colId xmlns:a16="http://schemas.microsoft.com/office/drawing/2014/main" val="2515879396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530895034"/>
                    </a:ext>
                  </a:extLst>
                </a:gridCol>
                <a:gridCol w="636587">
                  <a:extLst>
                    <a:ext uri="{9D8B030D-6E8A-4147-A177-3AD203B41FA5}">
                      <a16:colId xmlns:a16="http://schemas.microsoft.com/office/drawing/2014/main" val="120125832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874526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091351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88113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843974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944228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69699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15079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64734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71593"/>
                  </a:ext>
                </a:extLst>
              </a:tr>
            </a:tbl>
          </a:graphicData>
        </a:graphic>
      </p:graphicFrame>
      <p:sp>
        <p:nvSpPr>
          <p:cNvPr id="144707" name="Text Box 323">
            <a:extLst>
              <a:ext uri="{FF2B5EF4-FFF2-40B4-BE49-F238E27FC236}">
                <a16:creationId xmlns:a16="http://schemas.microsoft.com/office/drawing/2014/main" id="{B97C0063-A433-ABC1-F708-A2DA55749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7378" y="893536"/>
            <a:ext cx="1997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A serial schedule </a:t>
            </a:r>
          </a:p>
          <a:p>
            <a:pPr algn="ctr"/>
            <a:r>
              <a:rPr lang="en-US" altLang="en-US" sz="2000"/>
              <a:t>of T1 </a:t>
            </a:r>
            <a:r>
              <a:rPr lang="en-US" altLang="en-US" sz="2000">
                <a:sym typeface="Wingdings" panose="05000000000000000000" pitchFamily="2" charset="2"/>
              </a:rPr>
              <a:t> T3 T2</a:t>
            </a:r>
            <a:endParaRPr lang="en-US" altLang="en-US" sz="2000"/>
          </a:p>
        </p:txBody>
      </p:sp>
      <p:sp>
        <p:nvSpPr>
          <p:cNvPr id="144708" name="Text Box 324">
            <a:extLst>
              <a:ext uri="{FF2B5EF4-FFF2-40B4-BE49-F238E27FC236}">
                <a16:creationId xmlns:a16="http://schemas.microsoft.com/office/drawing/2014/main" id="{59A2F88D-327D-3741-6308-48027ADA1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124" y="895124"/>
            <a:ext cx="23348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A final state</a:t>
            </a:r>
          </a:p>
          <a:p>
            <a:pPr algn="ctr"/>
            <a:r>
              <a:rPr lang="en-US" altLang="en-US" sz="2000"/>
              <a:t>serializable schedule</a:t>
            </a:r>
          </a:p>
        </p:txBody>
      </p:sp>
      <p:sp>
        <p:nvSpPr>
          <p:cNvPr id="144709" name="Text Box 325">
            <a:extLst>
              <a:ext uri="{FF2B5EF4-FFF2-40B4-BE49-F238E27FC236}">
                <a16:creationId xmlns:a16="http://schemas.microsoft.com/office/drawing/2014/main" id="{D72E9DC5-094E-97C4-BBAC-444848A8B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454" y="1034824"/>
            <a:ext cx="311899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These two schedules are </a:t>
            </a:r>
          </a:p>
          <a:p>
            <a:r>
              <a:rPr lang="en-US" altLang="en-US" sz="2000"/>
              <a:t>final state equivalent </a:t>
            </a:r>
          </a:p>
          <a:p>
            <a:r>
              <a:rPr lang="en-US" altLang="en-US" sz="2000"/>
              <a:t>because the final results </a:t>
            </a:r>
          </a:p>
          <a:p>
            <a:r>
              <a:rPr lang="en-US" altLang="en-US" sz="2000"/>
              <a:t>(A and B) are both from </a:t>
            </a:r>
          </a:p>
          <a:p>
            <a:r>
              <a:rPr lang="en-US" altLang="en-US" sz="2000"/>
              <a:t>the same paths.</a:t>
            </a:r>
          </a:p>
          <a:p>
            <a:r>
              <a:rPr lang="en-US" altLang="en-US" sz="2000"/>
              <a:t>(see solid arrows)</a:t>
            </a:r>
          </a:p>
          <a:p>
            <a:endParaRPr lang="en-US" altLang="en-US" sz="2000"/>
          </a:p>
          <a:p>
            <a:r>
              <a:rPr lang="en-US" altLang="en-US" sz="2000"/>
              <a:t>However, T3 in </a:t>
            </a:r>
          </a:p>
          <a:p>
            <a:r>
              <a:rPr lang="en-US" altLang="en-US" sz="2000"/>
              <a:t>the left schedule reads B </a:t>
            </a:r>
          </a:p>
          <a:p>
            <a:r>
              <a:rPr lang="en-US" altLang="en-US" sz="2000"/>
              <a:t>from the database while </a:t>
            </a:r>
          </a:p>
          <a:p>
            <a:r>
              <a:rPr lang="en-US" altLang="en-US" sz="2000"/>
              <a:t>T3 in the right schedule </a:t>
            </a:r>
          </a:p>
          <a:p>
            <a:r>
              <a:rPr lang="en-US" altLang="en-US" sz="2000"/>
              <a:t>reads B from T1. </a:t>
            </a:r>
          </a:p>
          <a:p>
            <a:r>
              <a:rPr lang="en-US" altLang="en-US" sz="2000"/>
              <a:t>(see dotted arrows)</a:t>
            </a:r>
          </a:p>
          <a:p>
            <a:endParaRPr lang="en-US" altLang="en-US" sz="2000"/>
          </a:p>
          <a:p>
            <a:r>
              <a:rPr lang="en-US" altLang="en-US" sz="2000"/>
              <a:t>T3 in the two schedules see </a:t>
            </a:r>
          </a:p>
          <a:p>
            <a:r>
              <a:rPr lang="en-US" altLang="en-US" sz="2000"/>
              <a:t>different database states.</a:t>
            </a:r>
          </a:p>
        </p:txBody>
      </p:sp>
      <p:sp>
        <p:nvSpPr>
          <p:cNvPr id="144710" name="Line 326">
            <a:extLst>
              <a:ext uri="{FF2B5EF4-FFF2-40B4-BE49-F238E27FC236}">
                <a16:creationId xmlns:a16="http://schemas.microsoft.com/office/drawing/2014/main" id="{856E37A0-6627-9237-AAE8-F29D11F64E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11754" y="4841649"/>
            <a:ext cx="14287" cy="6397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1" name="Line 327">
            <a:extLst>
              <a:ext uri="{FF2B5EF4-FFF2-40B4-BE49-F238E27FC236}">
                <a16:creationId xmlns:a16="http://schemas.microsoft.com/office/drawing/2014/main" id="{EDC30DE2-043B-AA76-011D-D8731425A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9854" y="4859112"/>
            <a:ext cx="14287" cy="6397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2" name="Freeform 328">
            <a:extLst>
              <a:ext uri="{FF2B5EF4-FFF2-40B4-BE49-F238E27FC236}">
                <a16:creationId xmlns:a16="http://schemas.microsoft.com/office/drawing/2014/main" id="{736C2A9E-F8C1-4DDB-E765-08EAB399D6F9}"/>
              </a:ext>
            </a:extLst>
          </p:cNvPr>
          <p:cNvSpPr>
            <a:spLocks/>
          </p:cNvSpPr>
          <p:nvPr/>
        </p:nvSpPr>
        <p:spPr bwMode="auto">
          <a:xfrm>
            <a:off x="2154465" y="2617561"/>
            <a:ext cx="350838" cy="2744788"/>
          </a:xfrm>
          <a:custGeom>
            <a:avLst/>
            <a:gdLst>
              <a:gd name="T0" fmla="*/ 191 w 221"/>
              <a:gd name="T1" fmla="*/ 0 h 1729"/>
              <a:gd name="T2" fmla="*/ 12 w 221"/>
              <a:gd name="T3" fmla="*/ 153 h 1729"/>
              <a:gd name="T4" fmla="*/ 0 w 221"/>
              <a:gd name="T5" fmla="*/ 1536 h 1729"/>
              <a:gd name="T6" fmla="*/ 221 w 221"/>
              <a:gd name="T7" fmla="*/ 1729 h 1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" h="1729">
                <a:moveTo>
                  <a:pt x="191" y="0"/>
                </a:moveTo>
                <a:lnTo>
                  <a:pt x="12" y="153"/>
                </a:lnTo>
                <a:lnTo>
                  <a:pt x="0" y="1536"/>
                </a:lnTo>
                <a:lnTo>
                  <a:pt x="221" y="1729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3" name="Freeform 329">
            <a:extLst>
              <a:ext uri="{FF2B5EF4-FFF2-40B4-BE49-F238E27FC236}">
                <a16:creationId xmlns:a16="http://schemas.microsoft.com/office/drawing/2014/main" id="{AB72AD09-CCD3-E70B-7814-867584A2BE1E}"/>
              </a:ext>
            </a:extLst>
          </p:cNvPr>
          <p:cNvSpPr>
            <a:spLocks/>
          </p:cNvSpPr>
          <p:nvPr/>
        </p:nvSpPr>
        <p:spPr bwMode="auto">
          <a:xfrm>
            <a:off x="4732565" y="2677886"/>
            <a:ext cx="336550" cy="2686050"/>
          </a:xfrm>
          <a:custGeom>
            <a:avLst/>
            <a:gdLst>
              <a:gd name="T0" fmla="*/ 199 w 212"/>
              <a:gd name="T1" fmla="*/ 0 h 1692"/>
              <a:gd name="T2" fmla="*/ 11 w 212"/>
              <a:gd name="T3" fmla="*/ 116 h 1692"/>
              <a:gd name="T4" fmla="*/ 0 w 212"/>
              <a:gd name="T5" fmla="*/ 1499 h 1692"/>
              <a:gd name="T6" fmla="*/ 212 w 212"/>
              <a:gd name="T7" fmla="*/ 1692 h 1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1692">
                <a:moveTo>
                  <a:pt x="199" y="0"/>
                </a:moveTo>
                <a:lnTo>
                  <a:pt x="11" y="116"/>
                </a:lnTo>
                <a:lnTo>
                  <a:pt x="0" y="1499"/>
                </a:lnTo>
                <a:lnTo>
                  <a:pt x="212" y="16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4" name="Freeform 330">
            <a:extLst>
              <a:ext uri="{FF2B5EF4-FFF2-40B4-BE49-F238E27FC236}">
                <a16:creationId xmlns:a16="http://schemas.microsoft.com/office/drawing/2014/main" id="{3A611B9A-64B0-5159-8135-8FA816DD4F8C}"/>
              </a:ext>
            </a:extLst>
          </p:cNvPr>
          <p:cNvSpPr>
            <a:spLocks/>
          </p:cNvSpPr>
          <p:nvPr/>
        </p:nvSpPr>
        <p:spPr bwMode="auto">
          <a:xfrm>
            <a:off x="4759554" y="2236561"/>
            <a:ext cx="319087" cy="349250"/>
          </a:xfrm>
          <a:custGeom>
            <a:avLst/>
            <a:gdLst>
              <a:gd name="T0" fmla="*/ 201 w 201"/>
              <a:gd name="T1" fmla="*/ 0 h 220"/>
              <a:gd name="T2" fmla="*/ 0 w 201"/>
              <a:gd name="T3" fmla="*/ 105 h 220"/>
              <a:gd name="T4" fmla="*/ 173 w 201"/>
              <a:gd name="T5" fmla="*/ 22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1" h="220">
                <a:moveTo>
                  <a:pt x="201" y="0"/>
                </a:moveTo>
                <a:lnTo>
                  <a:pt x="0" y="105"/>
                </a:lnTo>
                <a:lnTo>
                  <a:pt x="173" y="22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5" name="Freeform 331">
            <a:extLst>
              <a:ext uri="{FF2B5EF4-FFF2-40B4-BE49-F238E27FC236}">
                <a16:creationId xmlns:a16="http://schemas.microsoft.com/office/drawing/2014/main" id="{332AEEC2-9F16-14EC-10CE-A86EC820C8CA}"/>
              </a:ext>
            </a:extLst>
          </p:cNvPr>
          <p:cNvSpPr>
            <a:spLocks/>
          </p:cNvSpPr>
          <p:nvPr/>
        </p:nvSpPr>
        <p:spPr bwMode="auto">
          <a:xfrm>
            <a:off x="2290990" y="2220686"/>
            <a:ext cx="196850" cy="304800"/>
          </a:xfrm>
          <a:custGeom>
            <a:avLst/>
            <a:gdLst>
              <a:gd name="T0" fmla="*/ 124 w 124"/>
              <a:gd name="T1" fmla="*/ 0 h 192"/>
              <a:gd name="T2" fmla="*/ 0 w 124"/>
              <a:gd name="T3" fmla="*/ 96 h 192"/>
              <a:gd name="T4" fmla="*/ 115 w 124"/>
              <a:gd name="T5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4" h="192">
                <a:moveTo>
                  <a:pt x="124" y="0"/>
                </a:moveTo>
                <a:lnTo>
                  <a:pt x="0" y="96"/>
                </a:lnTo>
                <a:lnTo>
                  <a:pt x="115" y="1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6" name="Freeform 332">
            <a:extLst>
              <a:ext uri="{FF2B5EF4-FFF2-40B4-BE49-F238E27FC236}">
                <a16:creationId xmlns:a16="http://schemas.microsoft.com/office/drawing/2014/main" id="{8598C5CC-E7C7-C24D-7A43-20422FDAE01A}"/>
              </a:ext>
            </a:extLst>
          </p:cNvPr>
          <p:cNvSpPr>
            <a:spLocks/>
          </p:cNvSpPr>
          <p:nvPr/>
        </p:nvSpPr>
        <p:spPr bwMode="auto">
          <a:xfrm>
            <a:off x="2914879" y="2204812"/>
            <a:ext cx="198437" cy="2149475"/>
          </a:xfrm>
          <a:custGeom>
            <a:avLst/>
            <a:gdLst>
              <a:gd name="T0" fmla="*/ 0 w 125"/>
              <a:gd name="T1" fmla="*/ 0 h 1354"/>
              <a:gd name="T2" fmla="*/ 125 w 125"/>
              <a:gd name="T3" fmla="*/ 202 h 1354"/>
              <a:gd name="T4" fmla="*/ 115 w 125"/>
              <a:gd name="T5" fmla="*/ 1162 h 1354"/>
              <a:gd name="T6" fmla="*/ 0 w 125"/>
              <a:gd name="T7" fmla="*/ 1354 h 1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5" h="1354">
                <a:moveTo>
                  <a:pt x="0" y="0"/>
                </a:moveTo>
                <a:lnTo>
                  <a:pt x="125" y="202"/>
                </a:lnTo>
                <a:lnTo>
                  <a:pt x="115" y="1162"/>
                </a:lnTo>
                <a:lnTo>
                  <a:pt x="0" y="1354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7" name="Freeform 333">
            <a:extLst>
              <a:ext uri="{FF2B5EF4-FFF2-40B4-BE49-F238E27FC236}">
                <a16:creationId xmlns:a16="http://schemas.microsoft.com/office/drawing/2014/main" id="{3894FFCF-6B03-BC60-E9C7-1A72E2CAC128}"/>
              </a:ext>
            </a:extLst>
          </p:cNvPr>
          <p:cNvSpPr>
            <a:spLocks/>
          </p:cNvSpPr>
          <p:nvPr/>
        </p:nvSpPr>
        <p:spPr bwMode="auto">
          <a:xfrm>
            <a:off x="5492978" y="2207987"/>
            <a:ext cx="241300" cy="1082675"/>
          </a:xfrm>
          <a:custGeom>
            <a:avLst/>
            <a:gdLst>
              <a:gd name="T0" fmla="*/ 0 w 152"/>
              <a:gd name="T1" fmla="*/ 0 h 682"/>
              <a:gd name="T2" fmla="*/ 143 w 152"/>
              <a:gd name="T3" fmla="*/ 75 h 682"/>
              <a:gd name="T4" fmla="*/ 152 w 152"/>
              <a:gd name="T5" fmla="*/ 632 h 682"/>
              <a:gd name="T6" fmla="*/ 10 w 152"/>
              <a:gd name="T7" fmla="*/ 682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" h="682">
                <a:moveTo>
                  <a:pt x="0" y="0"/>
                </a:moveTo>
                <a:lnTo>
                  <a:pt x="143" y="75"/>
                </a:lnTo>
                <a:lnTo>
                  <a:pt x="152" y="632"/>
                </a:lnTo>
                <a:lnTo>
                  <a:pt x="10" y="68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8" name="Freeform 334">
            <a:extLst>
              <a:ext uri="{FF2B5EF4-FFF2-40B4-BE49-F238E27FC236}">
                <a16:creationId xmlns:a16="http://schemas.microsoft.com/office/drawing/2014/main" id="{158C136F-EA6D-4C1B-1EB4-5F17034A9B99}"/>
              </a:ext>
            </a:extLst>
          </p:cNvPr>
          <p:cNvSpPr>
            <a:spLocks/>
          </p:cNvSpPr>
          <p:nvPr/>
        </p:nvSpPr>
        <p:spPr bwMode="auto">
          <a:xfrm>
            <a:off x="4850041" y="2936650"/>
            <a:ext cx="214313" cy="396875"/>
          </a:xfrm>
          <a:custGeom>
            <a:avLst/>
            <a:gdLst>
              <a:gd name="T0" fmla="*/ 135 w 135"/>
              <a:gd name="T1" fmla="*/ 0 h 250"/>
              <a:gd name="T2" fmla="*/ 0 w 135"/>
              <a:gd name="T3" fmla="*/ 106 h 250"/>
              <a:gd name="T4" fmla="*/ 125 w 135"/>
              <a:gd name="T5" fmla="*/ 25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5" h="250">
                <a:moveTo>
                  <a:pt x="135" y="0"/>
                </a:moveTo>
                <a:lnTo>
                  <a:pt x="0" y="106"/>
                </a:lnTo>
                <a:lnTo>
                  <a:pt x="125" y="25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19" name="Line 335">
            <a:extLst>
              <a:ext uri="{FF2B5EF4-FFF2-40B4-BE49-F238E27FC236}">
                <a16:creationId xmlns:a16="http://schemas.microsoft.com/office/drawing/2014/main" id="{48720213-A2AE-EBB8-B770-1D3D4E3E1F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9928" y="3416074"/>
            <a:ext cx="0" cy="8683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0" name="Line 336">
            <a:extLst>
              <a:ext uri="{FF2B5EF4-FFF2-40B4-BE49-F238E27FC236}">
                <a16:creationId xmlns:a16="http://schemas.microsoft.com/office/drawing/2014/main" id="{2BE49F30-9F4A-22C6-F2B0-6B8B2A868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9640" y="3393849"/>
            <a:ext cx="915988" cy="273050"/>
          </a:xfrm>
          <a:prstGeom prst="line">
            <a:avLst/>
          </a:prstGeom>
          <a:noFill/>
          <a:ln w="28575">
            <a:solidFill>
              <a:srgbClr val="FF33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1" name="Freeform 337">
            <a:extLst>
              <a:ext uri="{FF2B5EF4-FFF2-40B4-BE49-F238E27FC236}">
                <a16:creationId xmlns:a16="http://schemas.microsoft.com/office/drawing/2014/main" id="{3B6A540F-5302-AF56-100B-E24B0A26DC4F}"/>
              </a:ext>
            </a:extLst>
          </p:cNvPr>
          <p:cNvSpPr>
            <a:spLocks/>
          </p:cNvSpPr>
          <p:nvPr/>
        </p:nvSpPr>
        <p:spPr bwMode="auto">
          <a:xfrm>
            <a:off x="6756629" y="3641499"/>
            <a:ext cx="242887" cy="379412"/>
          </a:xfrm>
          <a:custGeom>
            <a:avLst/>
            <a:gdLst>
              <a:gd name="T0" fmla="*/ 0 w 153"/>
              <a:gd name="T1" fmla="*/ 0 h 268"/>
              <a:gd name="T2" fmla="*/ 153 w 153"/>
              <a:gd name="T3" fmla="*/ 123 h 268"/>
              <a:gd name="T4" fmla="*/ 11 w 153"/>
              <a:gd name="T5" fmla="*/ 26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" h="268">
                <a:moveTo>
                  <a:pt x="0" y="0"/>
                </a:moveTo>
                <a:lnTo>
                  <a:pt x="153" y="123"/>
                </a:lnTo>
                <a:lnTo>
                  <a:pt x="11" y="268"/>
                </a:lnTo>
              </a:path>
            </a:pathLst>
          </a:custGeom>
          <a:noFill/>
          <a:ln w="28575" cap="flat" cmpd="sng">
            <a:solidFill>
              <a:srgbClr val="FF3300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2" name="Freeform 338">
            <a:extLst>
              <a:ext uri="{FF2B5EF4-FFF2-40B4-BE49-F238E27FC236}">
                <a16:creationId xmlns:a16="http://schemas.microsoft.com/office/drawing/2014/main" id="{67ADC8B8-20B6-FA6C-CD37-6325ECCD70F1}"/>
              </a:ext>
            </a:extLst>
          </p:cNvPr>
          <p:cNvSpPr>
            <a:spLocks/>
          </p:cNvSpPr>
          <p:nvPr/>
        </p:nvSpPr>
        <p:spPr bwMode="auto">
          <a:xfrm>
            <a:off x="4180116" y="3652612"/>
            <a:ext cx="258763" cy="320675"/>
          </a:xfrm>
          <a:custGeom>
            <a:avLst/>
            <a:gdLst>
              <a:gd name="T0" fmla="*/ 0 w 163"/>
              <a:gd name="T1" fmla="*/ 0 h 202"/>
              <a:gd name="T2" fmla="*/ 163 w 163"/>
              <a:gd name="T3" fmla="*/ 87 h 202"/>
              <a:gd name="T4" fmla="*/ 10 w 163"/>
              <a:gd name="T5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3" h="202">
                <a:moveTo>
                  <a:pt x="0" y="0"/>
                </a:moveTo>
                <a:lnTo>
                  <a:pt x="163" y="87"/>
                </a:lnTo>
                <a:lnTo>
                  <a:pt x="10" y="202"/>
                </a:lnTo>
              </a:path>
            </a:pathLst>
          </a:custGeom>
          <a:noFill/>
          <a:ln w="28575" cap="flat" cmpd="sng">
            <a:solidFill>
              <a:srgbClr val="FF3300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3" name="Freeform 339">
            <a:extLst>
              <a:ext uri="{FF2B5EF4-FFF2-40B4-BE49-F238E27FC236}">
                <a16:creationId xmlns:a16="http://schemas.microsoft.com/office/drawing/2014/main" id="{AC46325C-DEC6-2E1C-593E-4D8E35968646}"/>
              </a:ext>
            </a:extLst>
          </p:cNvPr>
          <p:cNvSpPr>
            <a:spLocks/>
          </p:cNvSpPr>
          <p:nvPr/>
        </p:nvSpPr>
        <p:spPr bwMode="auto">
          <a:xfrm>
            <a:off x="3311754" y="3074762"/>
            <a:ext cx="14287" cy="1554163"/>
          </a:xfrm>
          <a:custGeom>
            <a:avLst/>
            <a:gdLst>
              <a:gd name="T0" fmla="*/ 9 w 9"/>
              <a:gd name="T1" fmla="*/ 0 h 979"/>
              <a:gd name="T2" fmla="*/ 0 w 9"/>
              <a:gd name="T3" fmla="*/ 979 h 9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" h="979">
                <a:moveTo>
                  <a:pt x="9" y="0"/>
                </a:moveTo>
                <a:lnTo>
                  <a:pt x="0" y="979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4" name="Freeform 340">
            <a:extLst>
              <a:ext uri="{FF2B5EF4-FFF2-40B4-BE49-F238E27FC236}">
                <a16:creationId xmlns:a16="http://schemas.microsoft.com/office/drawing/2014/main" id="{15DBCBB1-4407-3455-5E57-9911B15E3249}"/>
              </a:ext>
            </a:extLst>
          </p:cNvPr>
          <p:cNvSpPr>
            <a:spLocks/>
          </p:cNvSpPr>
          <p:nvPr/>
        </p:nvSpPr>
        <p:spPr bwMode="auto">
          <a:xfrm>
            <a:off x="6115279" y="4370162"/>
            <a:ext cx="320675" cy="365125"/>
          </a:xfrm>
          <a:custGeom>
            <a:avLst/>
            <a:gdLst>
              <a:gd name="T0" fmla="*/ 0 w 202"/>
              <a:gd name="T1" fmla="*/ 0 h 230"/>
              <a:gd name="T2" fmla="*/ 202 w 202"/>
              <a:gd name="T3" fmla="*/ 96 h 230"/>
              <a:gd name="T4" fmla="*/ 29 w 202"/>
              <a:gd name="T5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230">
                <a:moveTo>
                  <a:pt x="0" y="0"/>
                </a:moveTo>
                <a:lnTo>
                  <a:pt x="202" y="96"/>
                </a:lnTo>
                <a:lnTo>
                  <a:pt x="29" y="23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5" name="Freeform 341">
            <a:extLst>
              <a:ext uri="{FF2B5EF4-FFF2-40B4-BE49-F238E27FC236}">
                <a16:creationId xmlns:a16="http://schemas.microsoft.com/office/drawing/2014/main" id="{89F96920-EDB0-6361-0EE7-2950C00518A2}"/>
              </a:ext>
            </a:extLst>
          </p:cNvPr>
          <p:cNvSpPr>
            <a:spLocks/>
          </p:cNvSpPr>
          <p:nvPr/>
        </p:nvSpPr>
        <p:spPr bwMode="auto">
          <a:xfrm>
            <a:off x="5535840" y="2585811"/>
            <a:ext cx="381000" cy="1708150"/>
          </a:xfrm>
          <a:custGeom>
            <a:avLst/>
            <a:gdLst>
              <a:gd name="T0" fmla="*/ 0 w 240"/>
              <a:gd name="T1" fmla="*/ 0 h 1076"/>
              <a:gd name="T2" fmla="*/ 240 w 240"/>
              <a:gd name="T3" fmla="*/ 58 h 1076"/>
              <a:gd name="T4" fmla="*/ 240 w 240"/>
              <a:gd name="T5" fmla="*/ 1076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1076">
                <a:moveTo>
                  <a:pt x="0" y="0"/>
                </a:moveTo>
                <a:lnTo>
                  <a:pt x="240" y="58"/>
                </a:lnTo>
                <a:lnTo>
                  <a:pt x="240" y="1076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6" name="Freeform 342">
            <a:extLst>
              <a:ext uri="{FF2B5EF4-FFF2-40B4-BE49-F238E27FC236}">
                <a16:creationId xmlns:a16="http://schemas.microsoft.com/office/drawing/2014/main" id="{03BEE1DD-4F85-E5EC-6588-FD73BD00B2FE}"/>
              </a:ext>
            </a:extLst>
          </p:cNvPr>
          <p:cNvSpPr>
            <a:spLocks/>
          </p:cNvSpPr>
          <p:nvPr/>
        </p:nvSpPr>
        <p:spPr bwMode="auto">
          <a:xfrm>
            <a:off x="2930754" y="2555650"/>
            <a:ext cx="395287" cy="274637"/>
          </a:xfrm>
          <a:custGeom>
            <a:avLst/>
            <a:gdLst>
              <a:gd name="T0" fmla="*/ 0 w 249"/>
              <a:gd name="T1" fmla="*/ 0 h 173"/>
              <a:gd name="T2" fmla="*/ 192 w 249"/>
              <a:gd name="T3" fmla="*/ 29 h 173"/>
              <a:gd name="T4" fmla="*/ 249 w 249"/>
              <a:gd name="T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" h="173">
                <a:moveTo>
                  <a:pt x="0" y="0"/>
                </a:moveTo>
                <a:lnTo>
                  <a:pt x="192" y="29"/>
                </a:lnTo>
                <a:lnTo>
                  <a:pt x="249" y="173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27" name="Text Box 343">
            <a:extLst>
              <a:ext uri="{FF2B5EF4-FFF2-40B4-BE49-F238E27FC236}">
                <a16:creationId xmlns:a16="http://schemas.microsoft.com/office/drawing/2014/main" id="{64D82E2E-51A7-321F-8E1A-1AAF7B460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390" y="5319486"/>
            <a:ext cx="333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A</a:t>
            </a:r>
          </a:p>
        </p:txBody>
      </p:sp>
      <p:sp>
        <p:nvSpPr>
          <p:cNvPr id="144728" name="Text Box 344">
            <a:extLst>
              <a:ext uri="{FF2B5EF4-FFF2-40B4-BE49-F238E27FC236}">
                <a16:creationId xmlns:a16="http://schemas.microsoft.com/office/drawing/2014/main" id="{72F973EA-E505-1F8D-B0EE-BEC3D29D7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490" y="5414736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B</a:t>
            </a:r>
          </a:p>
        </p:txBody>
      </p:sp>
      <p:sp>
        <p:nvSpPr>
          <p:cNvPr id="144729" name="Text Box 345">
            <a:extLst>
              <a:ext uri="{FF2B5EF4-FFF2-40B4-BE49-F238E27FC236}">
                <a16:creationId xmlns:a16="http://schemas.microsoft.com/office/drawing/2014/main" id="{759F7AF5-0668-04DC-80F2-0F368A93B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203" y="5321074"/>
            <a:ext cx="333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A</a:t>
            </a:r>
          </a:p>
        </p:txBody>
      </p:sp>
      <p:sp>
        <p:nvSpPr>
          <p:cNvPr id="144730" name="Text Box 346">
            <a:extLst>
              <a:ext uri="{FF2B5EF4-FFF2-40B4-BE49-F238E27FC236}">
                <a16:creationId xmlns:a16="http://schemas.microsoft.com/office/drawing/2014/main" id="{58CEEB4D-CD21-2E4D-F25D-8D9A92461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503" y="5416324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B</a:t>
            </a:r>
          </a:p>
        </p:txBody>
      </p:sp>
      <p:sp>
        <p:nvSpPr>
          <p:cNvPr id="144731" name="Text Box 347">
            <a:extLst>
              <a:ext uri="{FF2B5EF4-FFF2-40B4-BE49-F238E27FC236}">
                <a16:creationId xmlns:a16="http://schemas.microsoft.com/office/drawing/2014/main" id="{C322B65E-0C62-66E2-C55F-F437F6EAA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540" y="5733824"/>
            <a:ext cx="22198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database final state</a:t>
            </a:r>
          </a:p>
        </p:txBody>
      </p:sp>
      <p:sp>
        <p:nvSpPr>
          <p:cNvPr id="144732" name="Line 348">
            <a:extLst>
              <a:ext uri="{FF2B5EF4-FFF2-40B4-BE49-F238E27FC236}">
                <a16:creationId xmlns:a16="http://schemas.microsoft.com/office/drawing/2014/main" id="{C7EA76B0-BDEF-6E0A-A744-889D8CE29E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58128" y="4098699"/>
            <a:ext cx="228600" cy="565150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33" name="Line 349">
            <a:extLst>
              <a:ext uri="{FF2B5EF4-FFF2-40B4-BE49-F238E27FC236}">
                <a16:creationId xmlns:a16="http://schemas.microsoft.com/office/drawing/2014/main" id="{C30595EB-6742-7F32-528A-B927C4A8E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828" y="3414487"/>
            <a:ext cx="900112" cy="657225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34" name="Line 350">
            <a:extLst>
              <a:ext uri="{FF2B5EF4-FFF2-40B4-BE49-F238E27FC236}">
                <a16:creationId xmlns:a16="http://schemas.microsoft.com/office/drawing/2014/main" id="{D8EFAD78-000E-72AA-8C5F-E57747FC53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4403" y="4073300"/>
            <a:ext cx="792162" cy="350837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4735" name="Line 351">
            <a:extLst>
              <a:ext uri="{FF2B5EF4-FFF2-40B4-BE49-F238E27FC236}">
                <a16:creationId xmlns:a16="http://schemas.microsoft.com/office/drawing/2014/main" id="{0C0B035A-B730-470B-F30E-71AF3A357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6940" y="4452712"/>
            <a:ext cx="185738" cy="244475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A86AAD12-DC59-0DBB-3700-FDED4CF33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68275"/>
            <a:ext cx="10515600" cy="917023"/>
          </a:xfrm>
        </p:spPr>
        <p:txBody>
          <a:bodyPr/>
          <a:lstStyle/>
          <a:p>
            <a:r>
              <a:rPr lang="en-US" altLang="en-US"/>
              <a:t>A View Serializable Schedule</a:t>
            </a:r>
          </a:p>
        </p:txBody>
      </p:sp>
      <p:graphicFrame>
        <p:nvGraphicFramePr>
          <p:cNvPr id="166915" name="Group 3">
            <a:extLst>
              <a:ext uri="{FF2B5EF4-FFF2-40B4-BE49-F238E27FC236}">
                <a16:creationId xmlns:a16="http://schemas.microsoft.com/office/drawing/2014/main" id="{78A14D41-8459-29DB-FBD0-18467CC549C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47728971"/>
              </p:ext>
            </p:extLst>
          </p:nvPr>
        </p:nvGraphicFramePr>
        <p:xfrm>
          <a:off x="2014538" y="1616076"/>
          <a:ext cx="1905000" cy="3230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405369713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48580937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557613639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58020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3763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18749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3046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18375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730770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0139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17672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238224"/>
                  </a:ext>
                </a:extLst>
              </a:tr>
            </a:tbl>
          </a:graphicData>
        </a:graphic>
      </p:graphicFrame>
      <p:graphicFrame>
        <p:nvGraphicFramePr>
          <p:cNvPr id="166972" name="Group 60">
            <a:extLst>
              <a:ext uri="{FF2B5EF4-FFF2-40B4-BE49-F238E27FC236}">
                <a16:creationId xmlns:a16="http://schemas.microsoft.com/office/drawing/2014/main" id="{59F10D19-7005-6D95-0292-9CFB3E41A8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8636854"/>
              </p:ext>
            </p:extLst>
          </p:nvPr>
        </p:nvGraphicFramePr>
        <p:xfrm>
          <a:off x="4484688" y="1619250"/>
          <a:ext cx="1905000" cy="3228978"/>
        </p:xfrm>
        <a:graphic>
          <a:graphicData uri="http://schemas.openxmlformats.org/drawingml/2006/table">
            <a:tbl>
              <a:tblPr/>
              <a:tblGrid>
                <a:gridCol w="636587">
                  <a:extLst>
                    <a:ext uri="{9D8B030D-6E8A-4147-A177-3AD203B41FA5}">
                      <a16:colId xmlns:a16="http://schemas.microsoft.com/office/drawing/2014/main" val="118116320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1103600103"/>
                    </a:ext>
                  </a:extLst>
                </a:gridCol>
                <a:gridCol w="636588">
                  <a:extLst>
                    <a:ext uri="{9D8B030D-6E8A-4147-A177-3AD203B41FA5}">
                      <a16:colId xmlns:a16="http://schemas.microsoft.com/office/drawing/2014/main" val="4096435908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260339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93860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36770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193477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629415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74566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594935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831076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16834"/>
                  </a:ext>
                </a:extLst>
              </a:tr>
            </a:tbl>
          </a:graphicData>
        </a:graphic>
      </p:graphicFrame>
      <p:sp>
        <p:nvSpPr>
          <p:cNvPr id="167029" name="Text Box 117">
            <a:extLst>
              <a:ext uri="{FF2B5EF4-FFF2-40B4-BE49-F238E27FC236}">
                <a16:creationId xmlns:a16="http://schemas.microsoft.com/office/drawing/2014/main" id="{57033428-48E7-ABFB-ADF4-34FBA1F2F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201" y="806450"/>
            <a:ext cx="1997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A serial schedule </a:t>
            </a:r>
          </a:p>
          <a:p>
            <a:pPr algn="ctr"/>
            <a:r>
              <a:rPr lang="en-US" altLang="en-US" sz="2000"/>
              <a:t>of T1 </a:t>
            </a:r>
            <a:r>
              <a:rPr lang="en-US" altLang="en-US" sz="2000">
                <a:sym typeface="Wingdings" panose="05000000000000000000" pitchFamily="2" charset="2"/>
              </a:rPr>
              <a:t> T3 T2</a:t>
            </a:r>
            <a:endParaRPr lang="en-US" altLang="en-US" sz="2000"/>
          </a:p>
        </p:txBody>
      </p:sp>
      <p:sp>
        <p:nvSpPr>
          <p:cNvPr id="167030" name="Text Box 118">
            <a:extLst>
              <a:ext uri="{FF2B5EF4-FFF2-40B4-BE49-F238E27FC236}">
                <a16:creationId xmlns:a16="http://schemas.microsoft.com/office/drawing/2014/main" id="{2CDB0440-43E1-6C8D-6F33-6AD57CA34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509" y="838200"/>
            <a:ext cx="23348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A view</a:t>
            </a:r>
          </a:p>
          <a:p>
            <a:pPr algn="ctr"/>
            <a:r>
              <a:rPr lang="en-US" altLang="en-US" sz="2000"/>
              <a:t>serializable schedule</a:t>
            </a:r>
          </a:p>
        </p:txBody>
      </p:sp>
      <p:sp>
        <p:nvSpPr>
          <p:cNvPr id="167031" name="Text Box 119">
            <a:extLst>
              <a:ext uri="{FF2B5EF4-FFF2-40B4-BE49-F238E27FC236}">
                <a16:creationId xmlns:a16="http://schemas.microsoft.com/office/drawing/2014/main" id="{677F4B3C-245B-71B8-15F6-7882A54AF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076" y="795339"/>
            <a:ext cx="3903663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These two schedules </a:t>
            </a:r>
          </a:p>
          <a:p>
            <a:r>
              <a:rPr lang="en-US" altLang="en-US" sz="2000"/>
              <a:t>are view equivalent </a:t>
            </a:r>
          </a:p>
          <a:p>
            <a:r>
              <a:rPr lang="en-US" altLang="en-US" sz="2000"/>
              <a:t>because the final results </a:t>
            </a:r>
          </a:p>
          <a:p>
            <a:r>
              <a:rPr lang="en-US" altLang="en-US" sz="2000"/>
              <a:t>(A and B) are both from </a:t>
            </a:r>
          </a:p>
          <a:p>
            <a:r>
              <a:rPr lang="en-US" altLang="en-US" sz="2000"/>
              <a:t>the same paths and the </a:t>
            </a:r>
          </a:p>
          <a:p>
            <a:r>
              <a:rPr lang="en-US" altLang="en-US" sz="2000"/>
              <a:t>corresponding transactions </a:t>
            </a:r>
          </a:p>
          <a:p>
            <a:r>
              <a:rPr lang="en-US" altLang="en-US" sz="2000"/>
              <a:t>see the same database states. (see solid arrows)</a:t>
            </a:r>
          </a:p>
          <a:p>
            <a:endParaRPr lang="en-US" altLang="en-US" sz="2000"/>
          </a:p>
          <a:p>
            <a:r>
              <a:rPr lang="en-US" altLang="en-US" sz="2000"/>
              <a:t>However, T1 overwrites </a:t>
            </a:r>
          </a:p>
          <a:p>
            <a:r>
              <a:rPr lang="en-US" altLang="en-US" sz="2000"/>
              <a:t>T3’s B in the left schedule</a:t>
            </a:r>
          </a:p>
          <a:p>
            <a:r>
              <a:rPr lang="en-US" altLang="en-US" sz="2000"/>
              <a:t>while, T3 overwrites T1’s B </a:t>
            </a:r>
          </a:p>
          <a:p>
            <a:r>
              <a:rPr lang="en-US" altLang="en-US" sz="2000"/>
              <a:t>in the right schedule.</a:t>
            </a:r>
          </a:p>
          <a:p>
            <a:r>
              <a:rPr lang="en-US" altLang="en-US" sz="2000"/>
              <a:t>(see dashed arrows)</a:t>
            </a:r>
          </a:p>
          <a:p>
            <a:endParaRPr lang="en-US" altLang="en-US" sz="2000"/>
          </a:p>
          <a:p>
            <a:r>
              <a:rPr lang="en-US" altLang="en-US" sz="2000"/>
              <a:t>T3 in the two schedules </a:t>
            </a:r>
          </a:p>
          <a:p>
            <a:r>
              <a:rPr lang="en-US" altLang="en-US" sz="2000"/>
              <a:t>modify different database states.</a:t>
            </a:r>
          </a:p>
        </p:txBody>
      </p:sp>
      <p:sp>
        <p:nvSpPr>
          <p:cNvPr id="167032" name="Line 120">
            <a:extLst>
              <a:ext uri="{FF2B5EF4-FFF2-40B4-BE49-F238E27FC236}">
                <a16:creationId xmlns:a16="http://schemas.microsoft.com/office/drawing/2014/main" id="{1F7DB47C-1F8E-DB3D-22FD-1584848F5B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8939" y="4754563"/>
            <a:ext cx="14287" cy="6397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3" name="Line 121">
            <a:extLst>
              <a:ext uri="{FF2B5EF4-FFF2-40B4-BE49-F238E27FC236}">
                <a16:creationId xmlns:a16="http://schemas.microsoft.com/office/drawing/2014/main" id="{2B2BB317-EA7F-B774-2A31-D40B6031FE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00675" y="4772026"/>
            <a:ext cx="14288" cy="6397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4" name="Freeform 122">
            <a:extLst>
              <a:ext uri="{FF2B5EF4-FFF2-40B4-BE49-F238E27FC236}">
                <a16:creationId xmlns:a16="http://schemas.microsoft.com/office/drawing/2014/main" id="{2E469428-6A1E-C990-1F65-60C6F837A30A}"/>
              </a:ext>
            </a:extLst>
          </p:cNvPr>
          <p:cNvSpPr>
            <a:spLocks/>
          </p:cNvSpPr>
          <p:nvPr/>
        </p:nvSpPr>
        <p:spPr bwMode="auto">
          <a:xfrm>
            <a:off x="1771650" y="2530475"/>
            <a:ext cx="350838" cy="2744788"/>
          </a:xfrm>
          <a:custGeom>
            <a:avLst/>
            <a:gdLst>
              <a:gd name="T0" fmla="*/ 191 w 221"/>
              <a:gd name="T1" fmla="*/ 0 h 1729"/>
              <a:gd name="T2" fmla="*/ 12 w 221"/>
              <a:gd name="T3" fmla="*/ 153 h 1729"/>
              <a:gd name="T4" fmla="*/ 0 w 221"/>
              <a:gd name="T5" fmla="*/ 1536 h 1729"/>
              <a:gd name="T6" fmla="*/ 221 w 221"/>
              <a:gd name="T7" fmla="*/ 1729 h 1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" h="1729">
                <a:moveTo>
                  <a:pt x="191" y="0"/>
                </a:moveTo>
                <a:lnTo>
                  <a:pt x="12" y="153"/>
                </a:lnTo>
                <a:lnTo>
                  <a:pt x="0" y="1536"/>
                </a:lnTo>
                <a:lnTo>
                  <a:pt x="221" y="1729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5" name="Freeform 123">
            <a:extLst>
              <a:ext uri="{FF2B5EF4-FFF2-40B4-BE49-F238E27FC236}">
                <a16:creationId xmlns:a16="http://schemas.microsoft.com/office/drawing/2014/main" id="{BAE994F0-D0B6-3D39-FEA7-B2E02EFED457}"/>
              </a:ext>
            </a:extLst>
          </p:cNvPr>
          <p:cNvSpPr>
            <a:spLocks/>
          </p:cNvSpPr>
          <p:nvPr/>
        </p:nvSpPr>
        <p:spPr bwMode="auto">
          <a:xfrm>
            <a:off x="4243388" y="2590800"/>
            <a:ext cx="336550" cy="2686050"/>
          </a:xfrm>
          <a:custGeom>
            <a:avLst/>
            <a:gdLst>
              <a:gd name="T0" fmla="*/ 199 w 212"/>
              <a:gd name="T1" fmla="*/ 0 h 1692"/>
              <a:gd name="T2" fmla="*/ 11 w 212"/>
              <a:gd name="T3" fmla="*/ 116 h 1692"/>
              <a:gd name="T4" fmla="*/ 0 w 212"/>
              <a:gd name="T5" fmla="*/ 1499 h 1692"/>
              <a:gd name="T6" fmla="*/ 212 w 212"/>
              <a:gd name="T7" fmla="*/ 1692 h 1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1692">
                <a:moveTo>
                  <a:pt x="199" y="0"/>
                </a:moveTo>
                <a:lnTo>
                  <a:pt x="11" y="116"/>
                </a:lnTo>
                <a:lnTo>
                  <a:pt x="0" y="1499"/>
                </a:lnTo>
                <a:lnTo>
                  <a:pt x="212" y="16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6" name="Freeform 124">
            <a:extLst>
              <a:ext uri="{FF2B5EF4-FFF2-40B4-BE49-F238E27FC236}">
                <a16:creationId xmlns:a16="http://schemas.microsoft.com/office/drawing/2014/main" id="{5DF488C0-AED1-B424-5FE1-E571CAB67445}"/>
              </a:ext>
            </a:extLst>
          </p:cNvPr>
          <p:cNvSpPr>
            <a:spLocks/>
          </p:cNvSpPr>
          <p:nvPr/>
        </p:nvSpPr>
        <p:spPr bwMode="auto">
          <a:xfrm>
            <a:off x="4270375" y="2149475"/>
            <a:ext cx="319088" cy="349250"/>
          </a:xfrm>
          <a:custGeom>
            <a:avLst/>
            <a:gdLst>
              <a:gd name="T0" fmla="*/ 201 w 201"/>
              <a:gd name="T1" fmla="*/ 0 h 220"/>
              <a:gd name="T2" fmla="*/ 0 w 201"/>
              <a:gd name="T3" fmla="*/ 105 h 220"/>
              <a:gd name="T4" fmla="*/ 173 w 201"/>
              <a:gd name="T5" fmla="*/ 22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1" h="220">
                <a:moveTo>
                  <a:pt x="201" y="0"/>
                </a:moveTo>
                <a:lnTo>
                  <a:pt x="0" y="105"/>
                </a:lnTo>
                <a:lnTo>
                  <a:pt x="173" y="22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7" name="Freeform 125">
            <a:extLst>
              <a:ext uri="{FF2B5EF4-FFF2-40B4-BE49-F238E27FC236}">
                <a16:creationId xmlns:a16="http://schemas.microsoft.com/office/drawing/2014/main" id="{F3EB99CE-BEF3-6BCB-A73F-58900A0F1CAF}"/>
              </a:ext>
            </a:extLst>
          </p:cNvPr>
          <p:cNvSpPr>
            <a:spLocks/>
          </p:cNvSpPr>
          <p:nvPr/>
        </p:nvSpPr>
        <p:spPr bwMode="auto">
          <a:xfrm>
            <a:off x="1908175" y="2133600"/>
            <a:ext cx="196850" cy="304800"/>
          </a:xfrm>
          <a:custGeom>
            <a:avLst/>
            <a:gdLst>
              <a:gd name="T0" fmla="*/ 124 w 124"/>
              <a:gd name="T1" fmla="*/ 0 h 192"/>
              <a:gd name="T2" fmla="*/ 0 w 124"/>
              <a:gd name="T3" fmla="*/ 96 h 192"/>
              <a:gd name="T4" fmla="*/ 115 w 124"/>
              <a:gd name="T5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4" h="192">
                <a:moveTo>
                  <a:pt x="124" y="0"/>
                </a:moveTo>
                <a:lnTo>
                  <a:pt x="0" y="96"/>
                </a:lnTo>
                <a:lnTo>
                  <a:pt x="115" y="1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8" name="Freeform 126">
            <a:extLst>
              <a:ext uri="{FF2B5EF4-FFF2-40B4-BE49-F238E27FC236}">
                <a16:creationId xmlns:a16="http://schemas.microsoft.com/office/drawing/2014/main" id="{25E9E5BF-F43A-6E06-8AEC-919FFE921ABD}"/>
              </a:ext>
            </a:extLst>
          </p:cNvPr>
          <p:cNvSpPr>
            <a:spLocks/>
          </p:cNvSpPr>
          <p:nvPr/>
        </p:nvSpPr>
        <p:spPr bwMode="auto">
          <a:xfrm>
            <a:off x="2532064" y="2117726"/>
            <a:ext cx="198437" cy="2149475"/>
          </a:xfrm>
          <a:custGeom>
            <a:avLst/>
            <a:gdLst>
              <a:gd name="T0" fmla="*/ 0 w 125"/>
              <a:gd name="T1" fmla="*/ 0 h 1354"/>
              <a:gd name="T2" fmla="*/ 125 w 125"/>
              <a:gd name="T3" fmla="*/ 202 h 1354"/>
              <a:gd name="T4" fmla="*/ 115 w 125"/>
              <a:gd name="T5" fmla="*/ 1162 h 1354"/>
              <a:gd name="T6" fmla="*/ 0 w 125"/>
              <a:gd name="T7" fmla="*/ 1354 h 1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5" h="1354">
                <a:moveTo>
                  <a:pt x="0" y="0"/>
                </a:moveTo>
                <a:lnTo>
                  <a:pt x="125" y="202"/>
                </a:lnTo>
                <a:lnTo>
                  <a:pt x="115" y="1162"/>
                </a:lnTo>
                <a:lnTo>
                  <a:pt x="0" y="1354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39" name="Freeform 127">
            <a:extLst>
              <a:ext uri="{FF2B5EF4-FFF2-40B4-BE49-F238E27FC236}">
                <a16:creationId xmlns:a16="http://schemas.microsoft.com/office/drawing/2014/main" id="{EB194F95-9FBF-3024-BAB5-C970FCC83004}"/>
              </a:ext>
            </a:extLst>
          </p:cNvPr>
          <p:cNvSpPr>
            <a:spLocks/>
          </p:cNvSpPr>
          <p:nvPr/>
        </p:nvSpPr>
        <p:spPr bwMode="auto">
          <a:xfrm>
            <a:off x="5003800" y="2120901"/>
            <a:ext cx="241300" cy="1082675"/>
          </a:xfrm>
          <a:custGeom>
            <a:avLst/>
            <a:gdLst>
              <a:gd name="T0" fmla="*/ 0 w 152"/>
              <a:gd name="T1" fmla="*/ 0 h 682"/>
              <a:gd name="T2" fmla="*/ 143 w 152"/>
              <a:gd name="T3" fmla="*/ 75 h 682"/>
              <a:gd name="T4" fmla="*/ 152 w 152"/>
              <a:gd name="T5" fmla="*/ 632 h 682"/>
              <a:gd name="T6" fmla="*/ 10 w 152"/>
              <a:gd name="T7" fmla="*/ 682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" h="682">
                <a:moveTo>
                  <a:pt x="0" y="0"/>
                </a:moveTo>
                <a:lnTo>
                  <a:pt x="143" y="75"/>
                </a:lnTo>
                <a:lnTo>
                  <a:pt x="152" y="632"/>
                </a:lnTo>
                <a:lnTo>
                  <a:pt x="10" y="68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0" name="Freeform 128">
            <a:extLst>
              <a:ext uri="{FF2B5EF4-FFF2-40B4-BE49-F238E27FC236}">
                <a16:creationId xmlns:a16="http://schemas.microsoft.com/office/drawing/2014/main" id="{250263BA-8846-2DD4-B462-C415E59345CB}"/>
              </a:ext>
            </a:extLst>
          </p:cNvPr>
          <p:cNvSpPr>
            <a:spLocks/>
          </p:cNvSpPr>
          <p:nvPr/>
        </p:nvSpPr>
        <p:spPr bwMode="auto">
          <a:xfrm>
            <a:off x="4360863" y="2849564"/>
            <a:ext cx="214312" cy="396875"/>
          </a:xfrm>
          <a:custGeom>
            <a:avLst/>
            <a:gdLst>
              <a:gd name="T0" fmla="*/ 135 w 135"/>
              <a:gd name="T1" fmla="*/ 0 h 250"/>
              <a:gd name="T2" fmla="*/ 0 w 135"/>
              <a:gd name="T3" fmla="*/ 106 h 250"/>
              <a:gd name="T4" fmla="*/ 125 w 135"/>
              <a:gd name="T5" fmla="*/ 25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5" h="250">
                <a:moveTo>
                  <a:pt x="135" y="0"/>
                </a:moveTo>
                <a:lnTo>
                  <a:pt x="0" y="106"/>
                </a:lnTo>
                <a:lnTo>
                  <a:pt x="125" y="25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1" name="Line 129">
            <a:extLst>
              <a:ext uri="{FF2B5EF4-FFF2-40B4-BE49-F238E27FC236}">
                <a16:creationId xmlns:a16="http://schemas.microsoft.com/office/drawing/2014/main" id="{4B035987-A017-69EA-B4DD-8F2742859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7113" y="3328988"/>
            <a:ext cx="0" cy="8683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3" name="Freeform 131">
            <a:extLst>
              <a:ext uri="{FF2B5EF4-FFF2-40B4-BE49-F238E27FC236}">
                <a16:creationId xmlns:a16="http://schemas.microsoft.com/office/drawing/2014/main" id="{F817E52B-1BEE-5A5E-99AA-98983F244ED4}"/>
              </a:ext>
            </a:extLst>
          </p:cNvPr>
          <p:cNvSpPr>
            <a:spLocks/>
          </p:cNvSpPr>
          <p:nvPr/>
        </p:nvSpPr>
        <p:spPr bwMode="auto">
          <a:xfrm>
            <a:off x="6267450" y="3554413"/>
            <a:ext cx="242888" cy="379412"/>
          </a:xfrm>
          <a:custGeom>
            <a:avLst/>
            <a:gdLst>
              <a:gd name="T0" fmla="*/ 0 w 153"/>
              <a:gd name="T1" fmla="*/ 0 h 268"/>
              <a:gd name="T2" fmla="*/ 153 w 153"/>
              <a:gd name="T3" fmla="*/ 123 h 268"/>
              <a:gd name="T4" fmla="*/ 11 w 153"/>
              <a:gd name="T5" fmla="*/ 26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" h="268">
                <a:moveTo>
                  <a:pt x="0" y="0"/>
                </a:moveTo>
                <a:lnTo>
                  <a:pt x="153" y="123"/>
                </a:lnTo>
                <a:lnTo>
                  <a:pt x="11" y="268"/>
                </a:lnTo>
              </a:path>
            </a:pathLst>
          </a:custGeom>
          <a:noFill/>
          <a:ln w="28575" cap="flat" cmpd="sng">
            <a:solidFill>
              <a:srgbClr val="FF3300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4" name="Freeform 132">
            <a:extLst>
              <a:ext uri="{FF2B5EF4-FFF2-40B4-BE49-F238E27FC236}">
                <a16:creationId xmlns:a16="http://schemas.microsoft.com/office/drawing/2014/main" id="{DBAF67D0-2E77-37E6-E4DF-5AD6DF0E5745}"/>
              </a:ext>
            </a:extLst>
          </p:cNvPr>
          <p:cNvSpPr>
            <a:spLocks/>
          </p:cNvSpPr>
          <p:nvPr/>
        </p:nvSpPr>
        <p:spPr bwMode="auto">
          <a:xfrm>
            <a:off x="3797301" y="3565526"/>
            <a:ext cx="258763" cy="320675"/>
          </a:xfrm>
          <a:custGeom>
            <a:avLst/>
            <a:gdLst>
              <a:gd name="T0" fmla="*/ 0 w 163"/>
              <a:gd name="T1" fmla="*/ 0 h 202"/>
              <a:gd name="T2" fmla="*/ 163 w 163"/>
              <a:gd name="T3" fmla="*/ 87 h 202"/>
              <a:gd name="T4" fmla="*/ 10 w 163"/>
              <a:gd name="T5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3" h="202">
                <a:moveTo>
                  <a:pt x="0" y="0"/>
                </a:moveTo>
                <a:lnTo>
                  <a:pt x="163" y="87"/>
                </a:lnTo>
                <a:lnTo>
                  <a:pt x="10" y="202"/>
                </a:lnTo>
              </a:path>
            </a:pathLst>
          </a:custGeom>
          <a:noFill/>
          <a:ln w="28575" cap="flat" cmpd="sng">
            <a:solidFill>
              <a:srgbClr val="FF3300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5" name="Freeform 133">
            <a:extLst>
              <a:ext uri="{FF2B5EF4-FFF2-40B4-BE49-F238E27FC236}">
                <a16:creationId xmlns:a16="http://schemas.microsoft.com/office/drawing/2014/main" id="{F4228AE6-30DB-D49F-57BE-6A02851E9378}"/>
              </a:ext>
            </a:extLst>
          </p:cNvPr>
          <p:cNvSpPr>
            <a:spLocks/>
          </p:cNvSpPr>
          <p:nvPr/>
        </p:nvSpPr>
        <p:spPr bwMode="auto">
          <a:xfrm>
            <a:off x="2928939" y="2987676"/>
            <a:ext cx="14287" cy="1554163"/>
          </a:xfrm>
          <a:custGeom>
            <a:avLst/>
            <a:gdLst>
              <a:gd name="T0" fmla="*/ 9 w 9"/>
              <a:gd name="T1" fmla="*/ 0 h 979"/>
              <a:gd name="T2" fmla="*/ 0 w 9"/>
              <a:gd name="T3" fmla="*/ 979 h 9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" h="979">
                <a:moveTo>
                  <a:pt x="9" y="0"/>
                </a:moveTo>
                <a:lnTo>
                  <a:pt x="0" y="979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6" name="Freeform 134">
            <a:extLst>
              <a:ext uri="{FF2B5EF4-FFF2-40B4-BE49-F238E27FC236}">
                <a16:creationId xmlns:a16="http://schemas.microsoft.com/office/drawing/2014/main" id="{167BEC2A-0C0C-D5D1-8DF4-4404FE13246B}"/>
              </a:ext>
            </a:extLst>
          </p:cNvPr>
          <p:cNvSpPr>
            <a:spLocks/>
          </p:cNvSpPr>
          <p:nvPr/>
        </p:nvSpPr>
        <p:spPr bwMode="auto">
          <a:xfrm>
            <a:off x="5626101" y="4283076"/>
            <a:ext cx="320675" cy="365125"/>
          </a:xfrm>
          <a:custGeom>
            <a:avLst/>
            <a:gdLst>
              <a:gd name="T0" fmla="*/ 0 w 202"/>
              <a:gd name="T1" fmla="*/ 0 h 230"/>
              <a:gd name="T2" fmla="*/ 202 w 202"/>
              <a:gd name="T3" fmla="*/ 96 h 230"/>
              <a:gd name="T4" fmla="*/ 29 w 202"/>
              <a:gd name="T5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230">
                <a:moveTo>
                  <a:pt x="0" y="0"/>
                </a:moveTo>
                <a:lnTo>
                  <a:pt x="202" y="96"/>
                </a:lnTo>
                <a:lnTo>
                  <a:pt x="29" y="23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7" name="Freeform 135">
            <a:extLst>
              <a:ext uri="{FF2B5EF4-FFF2-40B4-BE49-F238E27FC236}">
                <a16:creationId xmlns:a16="http://schemas.microsoft.com/office/drawing/2014/main" id="{577B5FDA-A1DB-16C3-BBB3-E6021DF95268}"/>
              </a:ext>
            </a:extLst>
          </p:cNvPr>
          <p:cNvSpPr>
            <a:spLocks/>
          </p:cNvSpPr>
          <p:nvPr/>
        </p:nvSpPr>
        <p:spPr bwMode="auto">
          <a:xfrm>
            <a:off x="5046663" y="2498725"/>
            <a:ext cx="381000" cy="1708150"/>
          </a:xfrm>
          <a:custGeom>
            <a:avLst/>
            <a:gdLst>
              <a:gd name="T0" fmla="*/ 0 w 240"/>
              <a:gd name="T1" fmla="*/ 0 h 1076"/>
              <a:gd name="T2" fmla="*/ 240 w 240"/>
              <a:gd name="T3" fmla="*/ 58 h 1076"/>
              <a:gd name="T4" fmla="*/ 240 w 240"/>
              <a:gd name="T5" fmla="*/ 1076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1076">
                <a:moveTo>
                  <a:pt x="0" y="0"/>
                </a:moveTo>
                <a:lnTo>
                  <a:pt x="240" y="58"/>
                </a:lnTo>
                <a:lnTo>
                  <a:pt x="240" y="1076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8" name="Freeform 136">
            <a:extLst>
              <a:ext uri="{FF2B5EF4-FFF2-40B4-BE49-F238E27FC236}">
                <a16:creationId xmlns:a16="http://schemas.microsoft.com/office/drawing/2014/main" id="{2C7A2D00-B994-70D9-0E94-5D8F78A2E6A8}"/>
              </a:ext>
            </a:extLst>
          </p:cNvPr>
          <p:cNvSpPr>
            <a:spLocks/>
          </p:cNvSpPr>
          <p:nvPr/>
        </p:nvSpPr>
        <p:spPr bwMode="auto">
          <a:xfrm>
            <a:off x="2547939" y="2468564"/>
            <a:ext cx="395287" cy="274637"/>
          </a:xfrm>
          <a:custGeom>
            <a:avLst/>
            <a:gdLst>
              <a:gd name="T0" fmla="*/ 0 w 249"/>
              <a:gd name="T1" fmla="*/ 0 h 173"/>
              <a:gd name="T2" fmla="*/ 192 w 249"/>
              <a:gd name="T3" fmla="*/ 29 h 173"/>
              <a:gd name="T4" fmla="*/ 249 w 249"/>
              <a:gd name="T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" h="173">
                <a:moveTo>
                  <a:pt x="0" y="0"/>
                </a:moveTo>
                <a:lnTo>
                  <a:pt x="192" y="29"/>
                </a:lnTo>
                <a:lnTo>
                  <a:pt x="249" y="173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49" name="Text Box 137">
            <a:extLst>
              <a:ext uri="{FF2B5EF4-FFF2-40B4-BE49-F238E27FC236}">
                <a16:creationId xmlns:a16="http://schemas.microsoft.com/office/drawing/2014/main" id="{4D3FE5BD-9057-E71C-11F3-031700B58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575" y="5232400"/>
            <a:ext cx="333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A</a:t>
            </a:r>
          </a:p>
        </p:txBody>
      </p:sp>
      <p:sp>
        <p:nvSpPr>
          <p:cNvPr id="167050" name="Text Box 138">
            <a:extLst>
              <a:ext uri="{FF2B5EF4-FFF2-40B4-BE49-F238E27FC236}">
                <a16:creationId xmlns:a16="http://schemas.microsoft.com/office/drawing/2014/main" id="{87130206-A1EC-9379-B7E1-674622D8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532765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B</a:t>
            </a:r>
          </a:p>
        </p:txBody>
      </p:sp>
      <p:sp>
        <p:nvSpPr>
          <p:cNvPr id="167051" name="Text Box 139">
            <a:extLst>
              <a:ext uri="{FF2B5EF4-FFF2-40B4-BE49-F238E27FC236}">
                <a16:creationId xmlns:a16="http://schemas.microsoft.com/office/drawing/2014/main" id="{D45685E4-5035-4FD8-DAF8-BCEBBEF9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5233988"/>
            <a:ext cx="333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A</a:t>
            </a:r>
          </a:p>
        </p:txBody>
      </p:sp>
      <p:sp>
        <p:nvSpPr>
          <p:cNvPr id="167052" name="Text Box 140">
            <a:extLst>
              <a:ext uri="{FF2B5EF4-FFF2-40B4-BE49-F238E27FC236}">
                <a16:creationId xmlns:a16="http://schemas.microsoft.com/office/drawing/2014/main" id="{299BC8A3-5078-A391-7338-15A34C372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5329238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B</a:t>
            </a:r>
          </a:p>
        </p:txBody>
      </p:sp>
      <p:sp>
        <p:nvSpPr>
          <p:cNvPr id="167053" name="Text Box 141">
            <a:extLst>
              <a:ext uri="{FF2B5EF4-FFF2-40B4-BE49-F238E27FC236}">
                <a16:creationId xmlns:a16="http://schemas.microsoft.com/office/drawing/2014/main" id="{8789C33E-06D0-2C8C-E2C7-890C15E66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363" y="5646738"/>
            <a:ext cx="22198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database final state</a:t>
            </a:r>
          </a:p>
        </p:txBody>
      </p:sp>
      <p:sp>
        <p:nvSpPr>
          <p:cNvPr id="167055" name="Line 143">
            <a:extLst>
              <a:ext uri="{FF2B5EF4-FFF2-40B4-BE49-F238E27FC236}">
                <a16:creationId xmlns:a16="http://schemas.microsoft.com/office/drawing/2014/main" id="{BD4B6F14-E51D-B2C1-58F6-32784CEF28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9113" y="3995738"/>
            <a:ext cx="228600" cy="565150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56" name="Line 144">
            <a:extLst>
              <a:ext uri="{FF2B5EF4-FFF2-40B4-BE49-F238E27FC236}">
                <a16:creationId xmlns:a16="http://schemas.microsoft.com/office/drawing/2014/main" id="{A9710417-FDAE-4FAC-5165-AD654E8D7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813" y="3311526"/>
            <a:ext cx="900112" cy="657225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57" name="Line 145">
            <a:extLst>
              <a:ext uri="{FF2B5EF4-FFF2-40B4-BE49-F238E27FC236}">
                <a16:creationId xmlns:a16="http://schemas.microsoft.com/office/drawing/2014/main" id="{DF8010CA-A62B-5D86-B3B5-EA9E017FE7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1751" y="3970339"/>
            <a:ext cx="792163" cy="350837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7058" name="Line 146">
            <a:extLst>
              <a:ext uri="{FF2B5EF4-FFF2-40B4-BE49-F238E27FC236}">
                <a16:creationId xmlns:a16="http://schemas.microsoft.com/office/drawing/2014/main" id="{CB11567A-FFF5-1A73-16CD-373840A6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4288" y="4349751"/>
            <a:ext cx="139700" cy="290513"/>
          </a:xfrm>
          <a:prstGeom prst="line">
            <a:avLst/>
          </a:prstGeom>
          <a:noFill/>
          <a:ln w="44450" cmpd="dbl">
            <a:solidFill>
              <a:schemeClr val="folHlink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6DF30AED-7DBF-26F7-7F61-565B1B68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57389"/>
            <a:ext cx="10515600" cy="917023"/>
          </a:xfrm>
        </p:spPr>
        <p:txBody>
          <a:bodyPr/>
          <a:lstStyle/>
          <a:p>
            <a:r>
              <a:rPr lang="en-US" altLang="en-US"/>
              <a:t>A Conflict Serializable Schedule</a:t>
            </a:r>
          </a:p>
        </p:txBody>
      </p:sp>
      <p:graphicFrame>
        <p:nvGraphicFramePr>
          <p:cNvPr id="167939" name="Group 3">
            <a:extLst>
              <a:ext uri="{FF2B5EF4-FFF2-40B4-BE49-F238E27FC236}">
                <a16:creationId xmlns:a16="http://schemas.microsoft.com/office/drawing/2014/main" id="{352472B5-1147-7A34-BBC8-ED26AEEAB6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42784535"/>
              </p:ext>
            </p:extLst>
          </p:nvPr>
        </p:nvGraphicFramePr>
        <p:xfrm>
          <a:off x="2103438" y="1626962"/>
          <a:ext cx="1905000" cy="3230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404125041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9147329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49309441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14649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2277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1421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62699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172585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8020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72225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97981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897323"/>
                  </a:ext>
                </a:extLst>
              </a:tr>
            </a:tbl>
          </a:graphicData>
        </a:graphic>
      </p:graphicFrame>
      <p:graphicFrame>
        <p:nvGraphicFramePr>
          <p:cNvPr id="167996" name="Group 60">
            <a:extLst>
              <a:ext uri="{FF2B5EF4-FFF2-40B4-BE49-F238E27FC236}">
                <a16:creationId xmlns:a16="http://schemas.microsoft.com/office/drawing/2014/main" id="{381EEE49-02DE-B52D-0702-9E7AC09238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22031444"/>
              </p:ext>
            </p:extLst>
          </p:nvPr>
        </p:nvGraphicFramePr>
        <p:xfrm>
          <a:off x="4679950" y="1630136"/>
          <a:ext cx="1905000" cy="3228978"/>
        </p:xfrm>
        <a:graphic>
          <a:graphicData uri="http://schemas.openxmlformats.org/drawingml/2006/table">
            <a:tbl>
              <a:tblPr/>
              <a:tblGrid>
                <a:gridCol w="636588">
                  <a:extLst>
                    <a:ext uri="{9D8B030D-6E8A-4147-A177-3AD203B41FA5}">
                      <a16:colId xmlns:a16="http://schemas.microsoft.com/office/drawing/2014/main" val="3243956271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1361429166"/>
                    </a:ext>
                  </a:extLst>
                </a:gridCol>
                <a:gridCol w="636587">
                  <a:extLst>
                    <a:ext uri="{9D8B030D-6E8A-4147-A177-3AD203B41FA5}">
                      <a16:colId xmlns:a16="http://schemas.microsoft.com/office/drawing/2014/main" val="443732751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201763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601766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8733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48003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95898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96889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153458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42741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44483"/>
                  </a:ext>
                </a:extLst>
              </a:tr>
            </a:tbl>
          </a:graphicData>
        </a:graphic>
      </p:graphicFrame>
      <p:sp>
        <p:nvSpPr>
          <p:cNvPr id="168053" name="Text Box 117">
            <a:extLst>
              <a:ext uri="{FF2B5EF4-FFF2-40B4-BE49-F238E27FC236}">
                <a16:creationId xmlns:a16="http://schemas.microsoft.com/office/drawing/2014/main" id="{5FB6B206-430D-290F-DFC0-11DE6D4B1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463" y="817336"/>
            <a:ext cx="1997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A serial schedule </a:t>
            </a:r>
          </a:p>
          <a:p>
            <a:pPr algn="ctr"/>
            <a:r>
              <a:rPr lang="en-US" altLang="en-US" sz="2000"/>
              <a:t>of T1 </a:t>
            </a:r>
            <a:r>
              <a:rPr lang="en-US" altLang="en-US" sz="2000">
                <a:sym typeface="Wingdings" panose="05000000000000000000" pitchFamily="2" charset="2"/>
              </a:rPr>
              <a:t> T3 T2</a:t>
            </a:r>
            <a:endParaRPr lang="en-US" altLang="en-US" sz="2000"/>
          </a:p>
        </p:txBody>
      </p:sp>
      <p:sp>
        <p:nvSpPr>
          <p:cNvPr id="168054" name="Text Box 118">
            <a:extLst>
              <a:ext uri="{FF2B5EF4-FFF2-40B4-BE49-F238E27FC236}">
                <a16:creationId xmlns:a16="http://schemas.microsoft.com/office/drawing/2014/main" id="{6E3D6311-A8B3-EFDC-3868-DFDFE9B63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209" y="818924"/>
            <a:ext cx="23348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A conflict</a:t>
            </a:r>
          </a:p>
          <a:p>
            <a:pPr algn="ctr"/>
            <a:r>
              <a:rPr lang="en-US" altLang="en-US" sz="2000"/>
              <a:t>serializable schedule</a:t>
            </a:r>
          </a:p>
        </p:txBody>
      </p:sp>
      <p:sp>
        <p:nvSpPr>
          <p:cNvPr id="168055" name="Text Box 119">
            <a:extLst>
              <a:ext uri="{FF2B5EF4-FFF2-40B4-BE49-F238E27FC236}">
                <a16:creationId xmlns:a16="http://schemas.microsoft.com/office/drawing/2014/main" id="{A22ADFF7-066E-B112-4D9A-16A0C74A0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1" y="1857150"/>
            <a:ext cx="3294063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These two schedules </a:t>
            </a:r>
          </a:p>
          <a:p>
            <a:r>
              <a:rPr lang="en-US" altLang="en-US" sz="2000"/>
              <a:t>are conflict equivalent </a:t>
            </a:r>
          </a:p>
          <a:p>
            <a:r>
              <a:rPr lang="en-US" altLang="en-US" sz="2000"/>
              <a:t>because the final results </a:t>
            </a:r>
          </a:p>
          <a:p>
            <a:r>
              <a:rPr lang="en-US" altLang="en-US" sz="2000"/>
              <a:t>(A, B, C) are both from </a:t>
            </a:r>
          </a:p>
          <a:p>
            <a:r>
              <a:rPr lang="en-US" altLang="en-US" sz="2000"/>
              <a:t>the same paths and the </a:t>
            </a:r>
          </a:p>
          <a:p>
            <a:r>
              <a:rPr lang="en-US" altLang="en-US" sz="2000"/>
              <a:t>corresponding transactions </a:t>
            </a:r>
          </a:p>
          <a:p>
            <a:r>
              <a:rPr lang="en-US" altLang="en-US" sz="2000"/>
              <a:t>see and modify the same database states (see the solid arrow).</a:t>
            </a:r>
          </a:p>
        </p:txBody>
      </p:sp>
      <p:sp>
        <p:nvSpPr>
          <p:cNvPr id="168056" name="Line 120">
            <a:extLst>
              <a:ext uri="{FF2B5EF4-FFF2-40B4-BE49-F238E27FC236}">
                <a16:creationId xmlns:a16="http://schemas.microsoft.com/office/drawing/2014/main" id="{4EE0EA45-81E1-7FF7-192D-5E8F19DE35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7839" y="4765449"/>
            <a:ext cx="14287" cy="6397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57" name="Line 121">
            <a:extLst>
              <a:ext uri="{FF2B5EF4-FFF2-40B4-BE49-F238E27FC236}">
                <a16:creationId xmlns:a16="http://schemas.microsoft.com/office/drawing/2014/main" id="{CD01C5FE-4267-4C6F-6068-14C02A0A3B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5939" y="4782912"/>
            <a:ext cx="14287" cy="6397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58" name="Freeform 122">
            <a:extLst>
              <a:ext uri="{FF2B5EF4-FFF2-40B4-BE49-F238E27FC236}">
                <a16:creationId xmlns:a16="http://schemas.microsoft.com/office/drawing/2014/main" id="{ECCDFAE6-FDA6-8810-070D-C25323E0EEB9}"/>
              </a:ext>
            </a:extLst>
          </p:cNvPr>
          <p:cNvSpPr>
            <a:spLocks/>
          </p:cNvSpPr>
          <p:nvPr/>
        </p:nvSpPr>
        <p:spPr bwMode="auto">
          <a:xfrm>
            <a:off x="1860550" y="2541361"/>
            <a:ext cx="350838" cy="2744788"/>
          </a:xfrm>
          <a:custGeom>
            <a:avLst/>
            <a:gdLst>
              <a:gd name="T0" fmla="*/ 191 w 221"/>
              <a:gd name="T1" fmla="*/ 0 h 1729"/>
              <a:gd name="T2" fmla="*/ 12 w 221"/>
              <a:gd name="T3" fmla="*/ 153 h 1729"/>
              <a:gd name="T4" fmla="*/ 0 w 221"/>
              <a:gd name="T5" fmla="*/ 1536 h 1729"/>
              <a:gd name="T6" fmla="*/ 221 w 221"/>
              <a:gd name="T7" fmla="*/ 1729 h 1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" h="1729">
                <a:moveTo>
                  <a:pt x="191" y="0"/>
                </a:moveTo>
                <a:lnTo>
                  <a:pt x="12" y="153"/>
                </a:lnTo>
                <a:lnTo>
                  <a:pt x="0" y="1536"/>
                </a:lnTo>
                <a:lnTo>
                  <a:pt x="221" y="1729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59" name="Freeform 123">
            <a:extLst>
              <a:ext uri="{FF2B5EF4-FFF2-40B4-BE49-F238E27FC236}">
                <a16:creationId xmlns:a16="http://schemas.microsoft.com/office/drawing/2014/main" id="{465C5033-62A0-85DB-2333-3AC9934A5BB4}"/>
              </a:ext>
            </a:extLst>
          </p:cNvPr>
          <p:cNvSpPr>
            <a:spLocks/>
          </p:cNvSpPr>
          <p:nvPr/>
        </p:nvSpPr>
        <p:spPr bwMode="auto">
          <a:xfrm>
            <a:off x="4438650" y="2601686"/>
            <a:ext cx="336550" cy="2686050"/>
          </a:xfrm>
          <a:custGeom>
            <a:avLst/>
            <a:gdLst>
              <a:gd name="T0" fmla="*/ 199 w 212"/>
              <a:gd name="T1" fmla="*/ 0 h 1692"/>
              <a:gd name="T2" fmla="*/ 11 w 212"/>
              <a:gd name="T3" fmla="*/ 116 h 1692"/>
              <a:gd name="T4" fmla="*/ 0 w 212"/>
              <a:gd name="T5" fmla="*/ 1499 h 1692"/>
              <a:gd name="T6" fmla="*/ 212 w 212"/>
              <a:gd name="T7" fmla="*/ 1692 h 1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2" h="1692">
                <a:moveTo>
                  <a:pt x="199" y="0"/>
                </a:moveTo>
                <a:lnTo>
                  <a:pt x="11" y="116"/>
                </a:lnTo>
                <a:lnTo>
                  <a:pt x="0" y="1499"/>
                </a:lnTo>
                <a:lnTo>
                  <a:pt x="212" y="16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0" name="Freeform 124">
            <a:extLst>
              <a:ext uri="{FF2B5EF4-FFF2-40B4-BE49-F238E27FC236}">
                <a16:creationId xmlns:a16="http://schemas.microsoft.com/office/drawing/2014/main" id="{F094A920-7397-AD29-D50F-EFEABDE05217}"/>
              </a:ext>
            </a:extLst>
          </p:cNvPr>
          <p:cNvSpPr>
            <a:spLocks/>
          </p:cNvSpPr>
          <p:nvPr/>
        </p:nvSpPr>
        <p:spPr bwMode="auto">
          <a:xfrm>
            <a:off x="4465639" y="2160361"/>
            <a:ext cx="319087" cy="349250"/>
          </a:xfrm>
          <a:custGeom>
            <a:avLst/>
            <a:gdLst>
              <a:gd name="T0" fmla="*/ 201 w 201"/>
              <a:gd name="T1" fmla="*/ 0 h 220"/>
              <a:gd name="T2" fmla="*/ 0 w 201"/>
              <a:gd name="T3" fmla="*/ 105 h 220"/>
              <a:gd name="T4" fmla="*/ 173 w 201"/>
              <a:gd name="T5" fmla="*/ 22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1" h="220">
                <a:moveTo>
                  <a:pt x="201" y="0"/>
                </a:moveTo>
                <a:lnTo>
                  <a:pt x="0" y="105"/>
                </a:lnTo>
                <a:lnTo>
                  <a:pt x="173" y="22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1" name="Freeform 125">
            <a:extLst>
              <a:ext uri="{FF2B5EF4-FFF2-40B4-BE49-F238E27FC236}">
                <a16:creationId xmlns:a16="http://schemas.microsoft.com/office/drawing/2014/main" id="{1ECFC963-0697-1C19-C856-F11DC5830670}"/>
              </a:ext>
            </a:extLst>
          </p:cNvPr>
          <p:cNvSpPr>
            <a:spLocks/>
          </p:cNvSpPr>
          <p:nvPr/>
        </p:nvSpPr>
        <p:spPr bwMode="auto">
          <a:xfrm>
            <a:off x="1997075" y="2144486"/>
            <a:ext cx="196850" cy="304800"/>
          </a:xfrm>
          <a:custGeom>
            <a:avLst/>
            <a:gdLst>
              <a:gd name="T0" fmla="*/ 124 w 124"/>
              <a:gd name="T1" fmla="*/ 0 h 192"/>
              <a:gd name="T2" fmla="*/ 0 w 124"/>
              <a:gd name="T3" fmla="*/ 96 h 192"/>
              <a:gd name="T4" fmla="*/ 115 w 124"/>
              <a:gd name="T5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4" h="192">
                <a:moveTo>
                  <a:pt x="124" y="0"/>
                </a:moveTo>
                <a:lnTo>
                  <a:pt x="0" y="96"/>
                </a:lnTo>
                <a:lnTo>
                  <a:pt x="115" y="19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2" name="Freeform 126">
            <a:extLst>
              <a:ext uri="{FF2B5EF4-FFF2-40B4-BE49-F238E27FC236}">
                <a16:creationId xmlns:a16="http://schemas.microsoft.com/office/drawing/2014/main" id="{1B1618E1-56A9-36C0-AC2D-A65CA69E33BA}"/>
              </a:ext>
            </a:extLst>
          </p:cNvPr>
          <p:cNvSpPr>
            <a:spLocks/>
          </p:cNvSpPr>
          <p:nvPr/>
        </p:nvSpPr>
        <p:spPr bwMode="auto">
          <a:xfrm>
            <a:off x="2620964" y="2128612"/>
            <a:ext cx="198437" cy="2149475"/>
          </a:xfrm>
          <a:custGeom>
            <a:avLst/>
            <a:gdLst>
              <a:gd name="T0" fmla="*/ 0 w 125"/>
              <a:gd name="T1" fmla="*/ 0 h 1354"/>
              <a:gd name="T2" fmla="*/ 125 w 125"/>
              <a:gd name="T3" fmla="*/ 202 h 1354"/>
              <a:gd name="T4" fmla="*/ 115 w 125"/>
              <a:gd name="T5" fmla="*/ 1162 h 1354"/>
              <a:gd name="T6" fmla="*/ 0 w 125"/>
              <a:gd name="T7" fmla="*/ 1354 h 1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5" h="1354">
                <a:moveTo>
                  <a:pt x="0" y="0"/>
                </a:moveTo>
                <a:lnTo>
                  <a:pt x="125" y="202"/>
                </a:lnTo>
                <a:lnTo>
                  <a:pt x="115" y="1162"/>
                </a:lnTo>
                <a:lnTo>
                  <a:pt x="0" y="1354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3" name="Freeform 127">
            <a:extLst>
              <a:ext uri="{FF2B5EF4-FFF2-40B4-BE49-F238E27FC236}">
                <a16:creationId xmlns:a16="http://schemas.microsoft.com/office/drawing/2014/main" id="{C165DD69-1174-6BA4-3C60-75BA02F4F341}"/>
              </a:ext>
            </a:extLst>
          </p:cNvPr>
          <p:cNvSpPr>
            <a:spLocks/>
          </p:cNvSpPr>
          <p:nvPr/>
        </p:nvSpPr>
        <p:spPr bwMode="auto">
          <a:xfrm>
            <a:off x="5199063" y="2131787"/>
            <a:ext cx="241300" cy="1082675"/>
          </a:xfrm>
          <a:custGeom>
            <a:avLst/>
            <a:gdLst>
              <a:gd name="T0" fmla="*/ 0 w 152"/>
              <a:gd name="T1" fmla="*/ 0 h 682"/>
              <a:gd name="T2" fmla="*/ 143 w 152"/>
              <a:gd name="T3" fmla="*/ 75 h 682"/>
              <a:gd name="T4" fmla="*/ 152 w 152"/>
              <a:gd name="T5" fmla="*/ 632 h 682"/>
              <a:gd name="T6" fmla="*/ 10 w 152"/>
              <a:gd name="T7" fmla="*/ 682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" h="682">
                <a:moveTo>
                  <a:pt x="0" y="0"/>
                </a:moveTo>
                <a:lnTo>
                  <a:pt x="143" y="75"/>
                </a:lnTo>
                <a:lnTo>
                  <a:pt x="152" y="632"/>
                </a:lnTo>
                <a:lnTo>
                  <a:pt x="10" y="68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4" name="Freeform 128">
            <a:extLst>
              <a:ext uri="{FF2B5EF4-FFF2-40B4-BE49-F238E27FC236}">
                <a16:creationId xmlns:a16="http://schemas.microsoft.com/office/drawing/2014/main" id="{E72E3F8C-7F70-092A-90E4-6078E669315A}"/>
              </a:ext>
            </a:extLst>
          </p:cNvPr>
          <p:cNvSpPr>
            <a:spLocks/>
          </p:cNvSpPr>
          <p:nvPr/>
        </p:nvSpPr>
        <p:spPr bwMode="auto">
          <a:xfrm>
            <a:off x="4556126" y="2860450"/>
            <a:ext cx="214313" cy="396875"/>
          </a:xfrm>
          <a:custGeom>
            <a:avLst/>
            <a:gdLst>
              <a:gd name="T0" fmla="*/ 135 w 135"/>
              <a:gd name="T1" fmla="*/ 0 h 250"/>
              <a:gd name="T2" fmla="*/ 0 w 135"/>
              <a:gd name="T3" fmla="*/ 106 h 250"/>
              <a:gd name="T4" fmla="*/ 125 w 135"/>
              <a:gd name="T5" fmla="*/ 25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5" h="250">
                <a:moveTo>
                  <a:pt x="135" y="0"/>
                </a:moveTo>
                <a:lnTo>
                  <a:pt x="0" y="106"/>
                </a:lnTo>
                <a:lnTo>
                  <a:pt x="125" y="25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5" name="Line 129">
            <a:extLst>
              <a:ext uri="{FF2B5EF4-FFF2-40B4-BE49-F238E27FC236}">
                <a16:creationId xmlns:a16="http://schemas.microsoft.com/office/drawing/2014/main" id="{2080B9E3-0B51-D35D-6B23-ECFE12E96E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3339874"/>
            <a:ext cx="0" cy="8683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6" name="Freeform 130">
            <a:extLst>
              <a:ext uri="{FF2B5EF4-FFF2-40B4-BE49-F238E27FC236}">
                <a16:creationId xmlns:a16="http://schemas.microsoft.com/office/drawing/2014/main" id="{5B68AA89-6DB0-4736-428F-B5F64FFC1723}"/>
              </a:ext>
            </a:extLst>
          </p:cNvPr>
          <p:cNvSpPr>
            <a:spLocks/>
          </p:cNvSpPr>
          <p:nvPr/>
        </p:nvSpPr>
        <p:spPr bwMode="auto">
          <a:xfrm>
            <a:off x="6462714" y="3565299"/>
            <a:ext cx="242887" cy="379412"/>
          </a:xfrm>
          <a:custGeom>
            <a:avLst/>
            <a:gdLst>
              <a:gd name="T0" fmla="*/ 0 w 153"/>
              <a:gd name="T1" fmla="*/ 0 h 268"/>
              <a:gd name="T2" fmla="*/ 153 w 153"/>
              <a:gd name="T3" fmla="*/ 123 h 268"/>
              <a:gd name="T4" fmla="*/ 11 w 153"/>
              <a:gd name="T5" fmla="*/ 26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" h="268">
                <a:moveTo>
                  <a:pt x="0" y="0"/>
                </a:moveTo>
                <a:lnTo>
                  <a:pt x="153" y="123"/>
                </a:lnTo>
                <a:lnTo>
                  <a:pt x="11" y="268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7" name="Freeform 131">
            <a:extLst>
              <a:ext uri="{FF2B5EF4-FFF2-40B4-BE49-F238E27FC236}">
                <a16:creationId xmlns:a16="http://schemas.microsoft.com/office/drawing/2014/main" id="{859BB1CE-A8E4-D39A-C07F-5B1D9C827E07}"/>
              </a:ext>
            </a:extLst>
          </p:cNvPr>
          <p:cNvSpPr>
            <a:spLocks/>
          </p:cNvSpPr>
          <p:nvPr/>
        </p:nvSpPr>
        <p:spPr bwMode="auto">
          <a:xfrm>
            <a:off x="3886201" y="3576412"/>
            <a:ext cx="258763" cy="320675"/>
          </a:xfrm>
          <a:custGeom>
            <a:avLst/>
            <a:gdLst>
              <a:gd name="T0" fmla="*/ 0 w 163"/>
              <a:gd name="T1" fmla="*/ 0 h 202"/>
              <a:gd name="T2" fmla="*/ 163 w 163"/>
              <a:gd name="T3" fmla="*/ 87 h 202"/>
              <a:gd name="T4" fmla="*/ 10 w 163"/>
              <a:gd name="T5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3" h="202">
                <a:moveTo>
                  <a:pt x="0" y="0"/>
                </a:moveTo>
                <a:lnTo>
                  <a:pt x="163" y="87"/>
                </a:lnTo>
                <a:lnTo>
                  <a:pt x="10" y="202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8" name="Freeform 132">
            <a:extLst>
              <a:ext uri="{FF2B5EF4-FFF2-40B4-BE49-F238E27FC236}">
                <a16:creationId xmlns:a16="http://schemas.microsoft.com/office/drawing/2014/main" id="{2A1524BB-534D-9E47-5E85-81148E340F2C}"/>
              </a:ext>
            </a:extLst>
          </p:cNvPr>
          <p:cNvSpPr>
            <a:spLocks/>
          </p:cNvSpPr>
          <p:nvPr/>
        </p:nvSpPr>
        <p:spPr bwMode="auto">
          <a:xfrm>
            <a:off x="3017839" y="2998562"/>
            <a:ext cx="14287" cy="1554163"/>
          </a:xfrm>
          <a:custGeom>
            <a:avLst/>
            <a:gdLst>
              <a:gd name="T0" fmla="*/ 9 w 9"/>
              <a:gd name="T1" fmla="*/ 0 h 979"/>
              <a:gd name="T2" fmla="*/ 0 w 9"/>
              <a:gd name="T3" fmla="*/ 979 h 97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" h="979">
                <a:moveTo>
                  <a:pt x="9" y="0"/>
                </a:moveTo>
                <a:lnTo>
                  <a:pt x="0" y="979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69" name="Freeform 133">
            <a:extLst>
              <a:ext uri="{FF2B5EF4-FFF2-40B4-BE49-F238E27FC236}">
                <a16:creationId xmlns:a16="http://schemas.microsoft.com/office/drawing/2014/main" id="{9CE35DFF-CC03-3893-A7B6-E19C80A78E54}"/>
              </a:ext>
            </a:extLst>
          </p:cNvPr>
          <p:cNvSpPr>
            <a:spLocks/>
          </p:cNvSpPr>
          <p:nvPr/>
        </p:nvSpPr>
        <p:spPr bwMode="auto">
          <a:xfrm>
            <a:off x="5821364" y="4293962"/>
            <a:ext cx="320675" cy="365125"/>
          </a:xfrm>
          <a:custGeom>
            <a:avLst/>
            <a:gdLst>
              <a:gd name="T0" fmla="*/ 0 w 202"/>
              <a:gd name="T1" fmla="*/ 0 h 230"/>
              <a:gd name="T2" fmla="*/ 202 w 202"/>
              <a:gd name="T3" fmla="*/ 96 h 230"/>
              <a:gd name="T4" fmla="*/ 29 w 202"/>
              <a:gd name="T5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230">
                <a:moveTo>
                  <a:pt x="0" y="0"/>
                </a:moveTo>
                <a:lnTo>
                  <a:pt x="202" y="96"/>
                </a:lnTo>
                <a:lnTo>
                  <a:pt x="29" y="230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70" name="Freeform 134">
            <a:extLst>
              <a:ext uri="{FF2B5EF4-FFF2-40B4-BE49-F238E27FC236}">
                <a16:creationId xmlns:a16="http://schemas.microsoft.com/office/drawing/2014/main" id="{323F959A-6203-8D3A-9EA0-FD6565237D84}"/>
              </a:ext>
            </a:extLst>
          </p:cNvPr>
          <p:cNvSpPr>
            <a:spLocks/>
          </p:cNvSpPr>
          <p:nvPr/>
        </p:nvSpPr>
        <p:spPr bwMode="auto">
          <a:xfrm>
            <a:off x="5241925" y="2509611"/>
            <a:ext cx="381000" cy="1708150"/>
          </a:xfrm>
          <a:custGeom>
            <a:avLst/>
            <a:gdLst>
              <a:gd name="T0" fmla="*/ 0 w 240"/>
              <a:gd name="T1" fmla="*/ 0 h 1076"/>
              <a:gd name="T2" fmla="*/ 240 w 240"/>
              <a:gd name="T3" fmla="*/ 58 h 1076"/>
              <a:gd name="T4" fmla="*/ 240 w 240"/>
              <a:gd name="T5" fmla="*/ 1076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1076">
                <a:moveTo>
                  <a:pt x="0" y="0"/>
                </a:moveTo>
                <a:lnTo>
                  <a:pt x="240" y="58"/>
                </a:lnTo>
                <a:lnTo>
                  <a:pt x="240" y="1076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71" name="Freeform 135">
            <a:extLst>
              <a:ext uri="{FF2B5EF4-FFF2-40B4-BE49-F238E27FC236}">
                <a16:creationId xmlns:a16="http://schemas.microsoft.com/office/drawing/2014/main" id="{E9F7368E-18F6-87DB-9652-1175850603BC}"/>
              </a:ext>
            </a:extLst>
          </p:cNvPr>
          <p:cNvSpPr>
            <a:spLocks/>
          </p:cNvSpPr>
          <p:nvPr/>
        </p:nvSpPr>
        <p:spPr bwMode="auto">
          <a:xfrm>
            <a:off x="2636839" y="2479450"/>
            <a:ext cx="395287" cy="274637"/>
          </a:xfrm>
          <a:custGeom>
            <a:avLst/>
            <a:gdLst>
              <a:gd name="T0" fmla="*/ 0 w 249"/>
              <a:gd name="T1" fmla="*/ 0 h 173"/>
              <a:gd name="T2" fmla="*/ 192 w 249"/>
              <a:gd name="T3" fmla="*/ 29 h 173"/>
              <a:gd name="T4" fmla="*/ 249 w 249"/>
              <a:gd name="T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" h="173">
                <a:moveTo>
                  <a:pt x="0" y="0"/>
                </a:moveTo>
                <a:lnTo>
                  <a:pt x="192" y="29"/>
                </a:lnTo>
                <a:lnTo>
                  <a:pt x="249" y="173"/>
                </a:ln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72" name="Text Box 136">
            <a:extLst>
              <a:ext uri="{FF2B5EF4-FFF2-40B4-BE49-F238E27FC236}">
                <a16:creationId xmlns:a16="http://schemas.microsoft.com/office/drawing/2014/main" id="{0BDCDEA5-6232-0055-6338-B10CCAE9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5243286"/>
            <a:ext cx="333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A</a:t>
            </a:r>
          </a:p>
        </p:txBody>
      </p:sp>
      <p:sp>
        <p:nvSpPr>
          <p:cNvPr id="168073" name="Text Box 137">
            <a:extLst>
              <a:ext uri="{FF2B5EF4-FFF2-40B4-BE49-F238E27FC236}">
                <a16:creationId xmlns:a16="http://schemas.microsoft.com/office/drawing/2014/main" id="{2688418E-64B8-6F0F-D977-33E2A0336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338536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B</a:t>
            </a:r>
          </a:p>
        </p:txBody>
      </p:sp>
      <p:sp>
        <p:nvSpPr>
          <p:cNvPr id="168074" name="Text Box 138">
            <a:extLst>
              <a:ext uri="{FF2B5EF4-FFF2-40B4-BE49-F238E27FC236}">
                <a16:creationId xmlns:a16="http://schemas.microsoft.com/office/drawing/2014/main" id="{4232C319-EE09-2E70-0647-42C5BF4F8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288" y="5244874"/>
            <a:ext cx="3337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A</a:t>
            </a:r>
          </a:p>
        </p:txBody>
      </p:sp>
      <p:sp>
        <p:nvSpPr>
          <p:cNvPr id="168075" name="Text Box 139">
            <a:extLst>
              <a:ext uri="{FF2B5EF4-FFF2-40B4-BE49-F238E27FC236}">
                <a16:creationId xmlns:a16="http://schemas.microsoft.com/office/drawing/2014/main" id="{9804AF26-7714-626C-FCAC-AAC88DEBC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5340124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B</a:t>
            </a:r>
          </a:p>
        </p:txBody>
      </p:sp>
      <p:sp>
        <p:nvSpPr>
          <p:cNvPr id="168076" name="Text Box 140">
            <a:extLst>
              <a:ext uri="{FF2B5EF4-FFF2-40B4-BE49-F238E27FC236}">
                <a16:creationId xmlns:a16="http://schemas.microsoft.com/office/drawing/2014/main" id="{5ED277BD-A08C-1BF6-98FA-28CA357DF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25" y="5657624"/>
            <a:ext cx="22198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database final state</a:t>
            </a:r>
          </a:p>
        </p:txBody>
      </p:sp>
      <p:sp>
        <p:nvSpPr>
          <p:cNvPr id="168077" name="Line 141">
            <a:extLst>
              <a:ext uri="{FF2B5EF4-FFF2-40B4-BE49-F238E27FC236}">
                <a16:creationId xmlns:a16="http://schemas.microsoft.com/office/drawing/2014/main" id="{F093C439-BE76-D78F-5679-970F331465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0775" y="4066949"/>
            <a:ext cx="14288" cy="128111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78" name="Line 142">
            <a:extLst>
              <a:ext uri="{FF2B5EF4-FFF2-40B4-BE49-F238E27FC236}">
                <a16:creationId xmlns:a16="http://schemas.microsoft.com/office/drawing/2014/main" id="{ED5F2083-AD7D-2585-69AF-2CC66D2A7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5864" y="4097112"/>
            <a:ext cx="14287" cy="12795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8079" name="Text Box 143">
            <a:extLst>
              <a:ext uri="{FF2B5EF4-FFF2-40B4-BE49-F238E27FC236}">
                <a16:creationId xmlns:a16="http://schemas.microsoft.com/office/drawing/2014/main" id="{D7B6A055-B702-FA45-EEB2-6AA89CB64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5357586"/>
            <a:ext cx="3209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C</a:t>
            </a:r>
          </a:p>
        </p:txBody>
      </p:sp>
      <p:sp>
        <p:nvSpPr>
          <p:cNvPr id="168080" name="Text Box 144">
            <a:extLst>
              <a:ext uri="{FF2B5EF4-FFF2-40B4-BE49-F238E27FC236}">
                <a16:creationId xmlns:a16="http://schemas.microsoft.com/office/drawing/2014/main" id="{34D78E9E-23C5-3D29-AED3-0F8E34D69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8" y="5360761"/>
            <a:ext cx="3209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4E442CD6-935E-E191-DE41-9A05F9C00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Serializability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308455E6-39E1-0AB6-E442-CAA54A447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Final state serializable schedules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Schedules that are </a:t>
            </a:r>
            <a:r>
              <a:rPr lang="en-US" altLang="en-US" sz="1800" b="1"/>
              <a:t>final state equivalent</a:t>
            </a:r>
            <a:r>
              <a:rPr lang="en-US" altLang="en-US" sz="1800"/>
              <a:t> to a serial schedule.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Caution: transactions may see an inconsistent state; this effect is unacceptable in some situations.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View serializable schedules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Schedules that are </a:t>
            </a:r>
            <a:r>
              <a:rPr lang="en-US" altLang="en-US" sz="1800" b="1"/>
              <a:t>view equivalent</a:t>
            </a:r>
            <a:r>
              <a:rPr lang="en-US" altLang="en-US" sz="1800"/>
              <a:t> to a serial schedule.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Caution: these are the desired schedules but it is difficult to verify or ensure that the schedules are view serializable.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Conflict serializable schedules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Schedules that are </a:t>
            </a:r>
            <a:r>
              <a:rPr lang="en-US" altLang="en-US" sz="1800" b="1"/>
              <a:t>conflict equivalent</a:t>
            </a:r>
            <a:r>
              <a:rPr lang="en-US" altLang="en-US" sz="1800"/>
              <a:t> to a serial schedule.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Caution: these schedules are a little too restrictive but it is easier to verify or ensure that the schedules are conflict serializable.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Note: 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We will consider only conflict serializable schedules and call them just “serializable schedules”.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A8CADE5C-DE0B-16F9-862D-99747B63E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of (Conflict) Serializability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01CFE834-1690-A534-5C36-0BB316C6C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Test of serializability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Precedence graph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Directed graph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Vertex : Transaction ID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Directed Edge from T</a:t>
            </a:r>
            <a:r>
              <a:rPr lang="en-US" altLang="en-US" baseline="-25000"/>
              <a:t>i</a:t>
            </a:r>
            <a:r>
              <a:rPr lang="en-US" altLang="en-US"/>
              <a:t> to T</a:t>
            </a:r>
            <a:r>
              <a:rPr lang="en-US" altLang="en-US" baseline="-25000"/>
              <a:t>j</a:t>
            </a:r>
            <a:r>
              <a:rPr lang="en-US" altLang="en-US"/>
              <a:t> : T</a:t>
            </a:r>
            <a:r>
              <a:rPr lang="en-US" altLang="en-US" baseline="-25000"/>
              <a:t>i</a:t>
            </a:r>
            <a:r>
              <a:rPr lang="en-US" altLang="en-US"/>
              <a:t> precedes T</a:t>
            </a:r>
            <a:r>
              <a:rPr lang="en-US" altLang="en-US" baseline="-25000"/>
              <a:t>j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Draw T</a:t>
            </a:r>
            <a:r>
              <a:rPr lang="en-US" altLang="en-US" baseline="-25000"/>
              <a:t>i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T</a:t>
            </a:r>
            <a:r>
              <a:rPr lang="en-US" altLang="en-US" baseline="-25000"/>
              <a:t>j</a:t>
            </a:r>
            <a:r>
              <a:rPr lang="en-US" altLang="en-US"/>
              <a:t> if 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w</a:t>
            </a:r>
            <a:r>
              <a:rPr lang="en-US" altLang="en-US" baseline="-25000"/>
              <a:t>i</a:t>
            </a:r>
            <a:r>
              <a:rPr lang="en-US" altLang="en-US"/>
              <a:t>(A) precedes r</a:t>
            </a:r>
            <a:r>
              <a:rPr lang="en-US" altLang="en-US" baseline="-25000"/>
              <a:t>j</a:t>
            </a:r>
            <a:r>
              <a:rPr lang="en-US" altLang="en-US"/>
              <a:t>(A) for any A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r</a:t>
            </a:r>
            <a:r>
              <a:rPr lang="en-US" altLang="en-US" baseline="-25000"/>
              <a:t>i</a:t>
            </a:r>
            <a:r>
              <a:rPr lang="en-US" altLang="en-US"/>
              <a:t>(A) precedes w</a:t>
            </a:r>
            <a:r>
              <a:rPr lang="en-US" altLang="en-US" baseline="-25000"/>
              <a:t>j</a:t>
            </a:r>
            <a:r>
              <a:rPr lang="en-US" altLang="en-US"/>
              <a:t>(A) for any A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w</a:t>
            </a:r>
            <a:r>
              <a:rPr lang="en-US" altLang="en-US" baseline="-25000"/>
              <a:t>i</a:t>
            </a:r>
            <a:r>
              <a:rPr lang="en-US" altLang="en-US"/>
              <a:t>(A) precedes w</a:t>
            </a:r>
            <a:r>
              <a:rPr lang="en-US" altLang="en-US" baseline="-25000"/>
              <a:t>j</a:t>
            </a:r>
            <a:r>
              <a:rPr lang="en-US" altLang="en-US"/>
              <a:t>(A) for any A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there exists a cycle in the graph,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the schedule is not serializable.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Otherwise, it is a serializable schedule.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A6D8FD0C-0040-9352-59FC-1628BBD1F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824" y="100693"/>
            <a:ext cx="10972800" cy="1143000"/>
          </a:xfrm>
        </p:spPr>
        <p:txBody>
          <a:bodyPr/>
          <a:lstStyle/>
          <a:p>
            <a:r>
              <a:rPr lang="en-US" altLang="en-US" dirty="0"/>
              <a:t>Test of Serializability</a:t>
            </a:r>
          </a:p>
        </p:txBody>
      </p:sp>
      <p:graphicFrame>
        <p:nvGraphicFramePr>
          <p:cNvPr id="147459" name="Group 3">
            <a:extLst>
              <a:ext uri="{FF2B5EF4-FFF2-40B4-BE49-F238E27FC236}">
                <a16:creationId xmlns:a16="http://schemas.microsoft.com/office/drawing/2014/main" id="{F832749F-9939-04D5-E7F7-6FDB1032D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917993"/>
              </p:ext>
            </p:extLst>
          </p:nvPr>
        </p:nvGraphicFramePr>
        <p:xfrm>
          <a:off x="4343400" y="1202418"/>
          <a:ext cx="3600450" cy="475488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1052563639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128028669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253996348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16430374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3241697158"/>
                    </a:ext>
                  </a:extLst>
                </a:gridCol>
              </a:tblGrid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572666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3331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234035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335004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558800"/>
                  </a:ext>
                </a:extLst>
              </a:tr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924353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130781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843988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285146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260690"/>
                  </a:ext>
                </a:extLst>
              </a:tr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55922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585472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w(b)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577586"/>
                  </a:ext>
                </a:extLst>
              </a:tr>
            </a:tbl>
          </a:graphicData>
        </a:graphic>
      </p:graphicFrame>
      <p:sp>
        <p:nvSpPr>
          <p:cNvPr id="147545" name="Text Box 89">
            <a:extLst>
              <a:ext uri="{FF2B5EF4-FFF2-40B4-BE49-F238E27FC236}">
                <a16:creationId xmlns:a16="http://schemas.microsoft.com/office/drawing/2014/main" id="{2F357204-604B-0437-2F8D-8D5840B44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6013" y="2210481"/>
            <a:ext cx="442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T1</a:t>
            </a:r>
          </a:p>
        </p:txBody>
      </p:sp>
      <p:sp>
        <p:nvSpPr>
          <p:cNvPr id="147546" name="Text Box 90">
            <a:extLst>
              <a:ext uri="{FF2B5EF4-FFF2-40B4-BE49-F238E27FC236}">
                <a16:creationId xmlns:a16="http://schemas.microsoft.com/office/drawing/2014/main" id="{1CCAC673-4F9B-96A1-CA66-BFB84D669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4075" y="1202419"/>
            <a:ext cx="4429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T2</a:t>
            </a:r>
          </a:p>
        </p:txBody>
      </p:sp>
      <p:sp>
        <p:nvSpPr>
          <p:cNvPr id="147547" name="Text Box 91">
            <a:extLst>
              <a:ext uri="{FF2B5EF4-FFF2-40B4-BE49-F238E27FC236}">
                <a16:creationId xmlns:a16="http://schemas.microsoft.com/office/drawing/2014/main" id="{30E6BA1F-CA83-F2F1-AEC6-3B734247F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8038" y="2210481"/>
            <a:ext cx="442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T3</a:t>
            </a:r>
          </a:p>
        </p:txBody>
      </p:sp>
      <p:sp>
        <p:nvSpPr>
          <p:cNvPr id="147548" name="Text Box 92">
            <a:extLst>
              <a:ext uri="{FF2B5EF4-FFF2-40B4-BE49-F238E27FC236}">
                <a16:creationId xmlns:a16="http://schemas.microsoft.com/office/drawing/2014/main" id="{4AACC459-1253-5D64-0EFE-49FB7CED7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6238" y="3505881"/>
            <a:ext cx="442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T4</a:t>
            </a:r>
          </a:p>
        </p:txBody>
      </p:sp>
      <p:sp>
        <p:nvSpPr>
          <p:cNvPr id="147549" name="Text Box 93">
            <a:extLst>
              <a:ext uri="{FF2B5EF4-FFF2-40B4-BE49-F238E27FC236}">
                <a16:creationId xmlns:a16="http://schemas.microsoft.com/office/drawing/2014/main" id="{DF86D08C-BF12-88D8-4815-FA66FC560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50" y="3505881"/>
            <a:ext cx="442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T5</a:t>
            </a:r>
          </a:p>
        </p:txBody>
      </p:sp>
      <p:sp>
        <p:nvSpPr>
          <p:cNvPr id="147550" name="Line 94">
            <a:extLst>
              <a:ext uri="{FF2B5EF4-FFF2-40B4-BE49-F238E27FC236}">
                <a16:creationId xmlns:a16="http://schemas.microsoft.com/office/drawing/2014/main" id="{D1822F6A-01C6-D12E-CAB9-F644CFDCF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7813" y="2570844"/>
            <a:ext cx="1368425" cy="100806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1" name="Line 95">
            <a:extLst>
              <a:ext uri="{FF2B5EF4-FFF2-40B4-BE49-F238E27FC236}">
                <a16:creationId xmlns:a16="http://schemas.microsoft.com/office/drawing/2014/main" id="{815EFE49-2824-D093-F482-00EA0429A2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96375" y="1489757"/>
            <a:ext cx="647700" cy="72072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2" name="Line 96">
            <a:extLst>
              <a:ext uri="{FF2B5EF4-FFF2-40B4-BE49-F238E27FC236}">
                <a16:creationId xmlns:a16="http://schemas.microsoft.com/office/drawing/2014/main" id="{6491D05D-3158-CA6E-6AC7-E436CC764C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1413" y="1562781"/>
            <a:ext cx="720725" cy="19431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3" name="Line 97">
            <a:extLst>
              <a:ext uri="{FF2B5EF4-FFF2-40B4-BE49-F238E27FC236}">
                <a16:creationId xmlns:a16="http://schemas.microsoft.com/office/drawing/2014/main" id="{5CF00645-A3BD-52C6-FC7C-5162C293B6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8175" y="1562781"/>
            <a:ext cx="360362" cy="19431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4" name="Line 98">
            <a:extLst>
              <a:ext uri="{FF2B5EF4-FFF2-40B4-BE49-F238E27FC236}">
                <a16:creationId xmlns:a16="http://schemas.microsoft.com/office/drawing/2014/main" id="{F55B18F4-C23D-7B97-D110-AF10196A3E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25162" y="2570844"/>
            <a:ext cx="287338" cy="93662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5" name="Text Box 99">
            <a:extLst>
              <a:ext uri="{FF2B5EF4-FFF2-40B4-BE49-F238E27FC236}">
                <a16:creationId xmlns:a16="http://schemas.microsoft.com/office/drawing/2014/main" id="{455DEA85-1699-0FFB-F8F9-AEB48A5E9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0" y="4010707"/>
            <a:ext cx="4032250" cy="201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latin typeface="Tahoma" panose="020B0604030504040204" pitchFamily="34" charset="0"/>
              </a:rPr>
              <a:t>“Serializability Order” is</a:t>
            </a:r>
          </a:p>
          <a:p>
            <a:r>
              <a:rPr lang="en-US" altLang="en-US">
                <a:latin typeface="Tahoma" panose="020B0604030504040204" pitchFamily="34" charset="0"/>
              </a:rPr>
              <a:t>the order of transactions in </a:t>
            </a:r>
          </a:p>
          <a:p>
            <a:r>
              <a:rPr lang="en-US" altLang="en-US">
                <a:latin typeface="Tahoma" panose="020B0604030504040204" pitchFamily="34" charset="0"/>
              </a:rPr>
              <a:t>a serial schedule that is </a:t>
            </a:r>
          </a:p>
          <a:p>
            <a:r>
              <a:rPr lang="en-US" altLang="en-US">
                <a:latin typeface="Tahoma" panose="020B0604030504040204" pitchFamily="34" charset="0"/>
              </a:rPr>
              <a:t>equivalent to this schedule.</a:t>
            </a: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= topologically sorted order of vertices in the precedence graph.</a:t>
            </a:r>
          </a:p>
        </p:txBody>
      </p:sp>
      <p:sp>
        <p:nvSpPr>
          <p:cNvPr id="147556" name="Freeform 100">
            <a:extLst>
              <a:ext uri="{FF2B5EF4-FFF2-40B4-BE49-F238E27FC236}">
                <a16:creationId xmlns:a16="http://schemas.microsoft.com/office/drawing/2014/main" id="{95BFD85D-9C6B-4215-D7E3-461F608EBA8F}"/>
              </a:ext>
            </a:extLst>
          </p:cNvPr>
          <p:cNvSpPr>
            <a:spLocks/>
          </p:cNvSpPr>
          <p:nvPr/>
        </p:nvSpPr>
        <p:spPr bwMode="auto">
          <a:xfrm>
            <a:off x="4586288" y="2167619"/>
            <a:ext cx="555625" cy="1616075"/>
          </a:xfrm>
          <a:custGeom>
            <a:avLst/>
            <a:gdLst>
              <a:gd name="T0" fmla="*/ 350 w 350"/>
              <a:gd name="T1" fmla="*/ 0 h 1018"/>
              <a:gd name="T2" fmla="*/ 83 w 350"/>
              <a:gd name="T3" fmla="*/ 250 h 1018"/>
              <a:gd name="T4" fmla="*/ 0 w 350"/>
              <a:gd name="T5" fmla="*/ 1018 h 10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0" h="1018">
                <a:moveTo>
                  <a:pt x="350" y="0"/>
                </a:moveTo>
                <a:cubicBezTo>
                  <a:pt x="306" y="43"/>
                  <a:pt x="141" y="80"/>
                  <a:pt x="83" y="250"/>
                </a:cubicBezTo>
                <a:cubicBezTo>
                  <a:pt x="8" y="442"/>
                  <a:pt x="17" y="858"/>
                  <a:pt x="0" y="1018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7" name="Freeform 101">
            <a:extLst>
              <a:ext uri="{FF2B5EF4-FFF2-40B4-BE49-F238E27FC236}">
                <a16:creationId xmlns:a16="http://schemas.microsoft.com/office/drawing/2014/main" id="{A55991C3-9883-939A-3700-55469CC8FAF2}"/>
              </a:ext>
            </a:extLst>
          </p:cNvPr>
          <p:cNvSpPr>
            <a:spLocks/>
          </p:cNvSpPr>
          <p:nvPr/>
        </p:nvSpPr>
        <p:spPr bwMode="auto">
          <a:xfrm>
            <a:off x="4625975" y="4182156"/>
            <a:ext cx="1935162" cy="596900"/>
          </a:xfrm>
          <a:custGeom>
            <a:avLst/>
            <a:gdLst>
              <a:gd name="T0" fmla="*/ 0 w 1219"/>
              <a:gd name="T1" fmla="*/ 0 h 376"/>
              <a:gd name="T2" fmla="*/ 434 w 1219"/>
              <a:gd name="T3" fmla="*/ 267 h 376"/>
              <a:gd name="T4" fmla="*/ 1219 w 1219"/>
              <a:gd name="T5" fmla="*/ 334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9" h="376">
                <a:moveTo>
                  <a:pt x="0" y="0"/>
                </a:moveTo>
                <a:cubicBezTo>
                  <a:pt x="72" y="44"/>
                  <a:pt x="231" y="211"/>
                  <a:pt x="434" y="267"/>
                </a:cubicBezTo>
                <a:cubicBezTo>
                  <a:pt x="743" y="376"/>
                  <a:pt x="1056" y="320"/>
                  <a:pt x="1219" y="334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8" name="Freeform 102">
            <a:extLst>
              <a:ext uri="{FF2B5EF4-FFF2-40B4-BE49-F238E27FC236}">
                <a16:creationId xmlns:a16="http://schemas.microsoft.com/office/drawing/2014/main" id="{EC99CF58-A8AD-5409-99B0-ED7F4F28A474}"/>
              </a:ext>
            </a:extLst>
          </p:cNvPr>
          <p:cNvSpPr>
            <a:spLocks/>
          </p:cNvSpPr>
          <p:nvPr/>
        </p:nvSpPr>
        <p:spPr bwMode="auto">
          <a:xfrm>
            <a:off x="6427787" y="3399518"/>
            <a:ext cx="357188" cy="914400"/>
          </a:xfrm>
          <a:custGeom>
            <a:avLst/>
            <a:gdLst>
              <a:gd name="T0" fmla="*/ 225 w 225"/>
              <a:gd name="T1" fmla="*/ 0 h 576"/>
              <a:gd name="T2" fmla="*/ 175 w 225"/>
              <a:gd name="T3" fmla="*/ 292 h 576"/>
              <a:gd name="T4" fmla="*/ 0 w 225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5" h="576">
                <a:moveTo>
                  <a:pt x="225" y="0"/>
                </a:moveTo>
                <a:cubicBezTo>
                  <a:pt x="217" y="49"/>
                  <a:pt x="212" y="196"/>
                  <a:pt x="175" y="292"/>
                </a:cubicBezTo>
                <a:cubicBezTo>
                  <a:pt x="137" y="375"/>
                  <a:pt x="36" y="517"/>
                  <a:pt x="0" y="576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59" name="Freeform 103">
            <a:extLst>
              <a:ext uri="{FF2B5EF4-FFF2-40B4-BE49-F238E27FC236}">
                <a16:creationId xmlns:a16="http://schemas.microsoft.com/office/drawing/2014/main" id="{14EE7CB1-1D92-5EC7-9999-EE19A8204D61}"/>
              </a:ext>
            </a:extLst>
          </p:cNvPr>
          <p:cNvSpPr>
            <a:spLocks/>
          </p:cNvSpPr>
          <p:nvPr/>
        </p:nvSpPr>
        <p:spPr bwMode="auto">
          <a:xfrm>
            <a:off x="5367338" y="3810681"/>
            <a:ext cx="1935163" cy="1974850"/>
          </a:xfrm>
          <a:custGeom>
            <a:avLst/>
            <a:gdLst>
              <a:gd name="T0" fmla="*/ 0 w 1219"/>
              <a:gd name="T1" fmla="*/ 0 h 1244"/>
              <a:gd name="T2" fmla="*/ 267 w 1219"/>
              <a:gd name="T3" fmla="*/ 1035 h 1244"/>
              <a:gd name="T4" fmla="*/ 1219 w 1219"/>
              <a:gd name="T5" fmla="*/ 1244 h 1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9" h="1244">
                <a:moveTo>
                  <a:pt x="0" y="0"/>
                </a:moveTo>
                <a:cubicBezTo>
                  <a:pt x="44" y="171"/>
                  <a:pt x="64" y="828"/>
                  <a:pt x="267" y="1035"/>
                </a:cubicBezTo>
                <a:cubicBezTo>
                  <a:pt x="448" y="1224"/>
                  <a:pt x="1021" y="1201"/>
                  <a:pt x="1219" y="1244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60" name="Freeform 104">
            <a:extLst>
              <a:ext uri="{FF2B5EF4-FFF2-40B4-BE49-F238E27FC236}">
                <a16:creationId xmlns:a16="http://schemas.microsoft.com/office/drawing/2014/main" id="{6F27BC51-BB58-7A9D-648E-86D273ADA7F8}"/>
              </a:ext>
            </a:extLst>
          </p:cNvPr>
          <p:cNvSpPr>
            <a:spLocks/>
          </p:cNvSpPr>
          <p:nvPr/>
        </p:nvSpPr>
        <p:spPr bwMode="auto">
          <a:xfrm>
            <a:off x="5659437" y="2110468"/>
            <a:ext cx="1638300" cy="3170238"/>
          </a:xfrm>
          <a:custGeom>
            <a:avLst/>
            <a:gdLst>
              <a:gd name="T0" fmla="*/ 0 w 1032"/>
              <a:gd name="T1" fmla="*/ 27 h 1997"/>
              <a:gd name="T2" fmla="*/ 868 w 1032"/>
              <a:gd name="T3" fmla="*/ 328 h 1997"/>
              <a:gd name="T4" fmla="*/ 918 w 1032"/>
              <a:gd name="T5" fmla="*/ 1997 h 1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32" h="1997">
                <a:moveTo>
                  <a:pt x="0" y="27"/>
                </a:moveTo>
                <a:cubicBezTo>
                  <a:pt x="143" y="78"/>
                  <a:pt x="715" y="0"/>
                  <a:pt x="868" y="328"/>
                </a:cubicBezTo>
                <a:cubicBezTo>
                  <a:pt x="1032" y="630"/>
                  <a:pt x="908" y="1649"/>
                  <a:pt x="918" y="1997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61" name="Freeform 105">
            <a:extLst>
              <a:ext uri="{FF2B5EF4-FFF2-40B4-BE49-F238E27FC236}">
                <a16:creationId xmlns:a16="http://schemas.microsoft.com/office/drawing/2014/main" id="{F94D7FD9-3F3C-6C9B-42DB-C957E8A8272F}"/>
              </a:ext>
            </a:extLst>
          </p:cNvPr>
          <p:cNvSpPr>
            <a:spLocks/>
          </p:cNvSpPr>
          <p:nvPr/>
        </p:nvSpPr>
        <p:spPr bwMode="auto">
          <a:xfrm>
            <a:off x="4956176" y="4526644"/>
            <a:ext cx="1087437" cy="569913"/>
          </a:xfrm>
          <a:custGeom>
            <a:avLst/>
            <a:gdLst>
              <a:gd name="T0" fmla="*/ 685 w 685"/>
              <a:gd name="T1" fmla="*/ 0 h 359"/>
              <a:gd name="T2" fmla="*/ 451 w 685"/>
              <a:gd name="T3" fmla="*/ 267 h 359"/>
              <a:gd name="T4" fmla="*/ 0 w 685"/>
              <a:gd name="T5" fmla="*/ 35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5" h="359">
                <a:moveTo>
                  <a:pt x="685" y="0"/>
                </a:moveTo>
                <a:cubicBezTo>
                  <a:pt x="646" y="44"/>
                  <a:pt x="565" y="209"/>
                  <a:pt x="451" y="267"/>
                </a:cubicBezTo>
                <a:cubicBezTo>
                  <a:pt x="309" y="359"/>
                  <a:pt x="94" y="333"/>
                  <a:pt x="0" y="350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7562" name="Freeform 106">
            <a:extLst>
              <a:ext uri="{FF2B5EF4-FFF2-40B4-BE49-F238E27FC236}">
                <a16:creationId xmlns:a16="http://schemas.microsoft.com/office/drawing/2014/main" id="{B92E9738-14A3-B4E0-EA0E-1C907F1E60A2}"/>
              </a:ext>
            </a:extLst>
          </p:cNvPr>
          <p:cNvSpPr>
            <a:spLocks/>
          </p:cNvSpPr>
          <p:nvPr/>
        </p:nvSpPr>
        <p:spPr bwMode="auto">
          <a:xfrm>
            <a:off x="9183688" y="2393043"/>
            <a:ext cx="1776413" cy="1588"/>
          </a:xfrm>
          <a:custGeom>
            <a:avLst/>
            <a:gdLst>
              <a:gd name="T0" fmla="*/ 1119 w 1119"/>
              <a:gd name="T1" fmla="*/ 0 h 1"/>
              <a:gd name="T2" fmla="*/ 0 w 1119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19" h="1">
                <a:moveTo>
                  <a:pt x="1119" y="0"/>
                </a:move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hlink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301D0BB8-2B15-A697-9986-876DAE176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9343" y="0"/>
            <a:ext cx="10515600" cy="917023"/>
          </a:xfrm>
        </p:spPr>
        <p:txBody>
          <a:bodyPr/>
          <a:lstStyle/>
          <a:p>
            <a:r>
              <a:rPr lang="en-US" altLang="en-US" dirty="0"/>
              <a:t>Recoverability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11827009-29E1-98E2-7223-8C4D2DF02D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4143" y="1037999"/>
            <a:ext cx="11255829" cy="51657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Dependency of transactions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In a schedule,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depends on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j</a:t>
            </a:r>
            <a:r>
              <a:rPr lang="en-US" altLang="en-US" dirty="0"/>
              <a:t> if </a:t>
            </a:r>
            <a:r>
              <a:rPr lang="en-US" altLang="en-US" dirty="0" err="1"/>
              <a:t>w</a:t>
            </a:r>
            <a:r>
              <a:rPr lang="en-US" altLang="en-US" baseline="-25000" dirty="0" err="1"/>
              <a:t>j</a:t>
            </a:r>
            <a:r>
              <a:rPr lang="en-US" altLang="en-US" dirty="0"/>
              <a:t> precedes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and there is no [</a:t>
            </a:r>
            <a:r>
              <a:rPr lang="en-US" altLang="en-US" dirty="0" err="1"/>
              <a:t>a</a:t>
            </a:r>
            <a:r>
              <a:rPr lang="en-US" altLang="en-US" baseline="-25000" dirty="0" err="1"/>
              <a:t>j</a:t>
            </a:r>
            <a:r>
              <a:rPr lang="en-US" altLang="en-US" dirty="0"/>
              <a:t>, </a:t>
            </a:r>
            <a:r>
              <a:rPr lang="en-US" altLang="en-US" dirty="0" err="1"/>
              <a:t>w</a:t>
            </a:r>
            <a:r>
              <a:rPr lang="en-US" altLang="en-US" baseline="-25000" dirty="0" err="1"/>
              <a:t>i</a:t>
            </a:r>
            <a:r>
              <a:rPr lang="en-US" altLang="en-US" dirty="0"/>
              <a:t>, or </a:t>
            </a:r>
            <a:r>
              <a:rPr lang="en-US" altLang="en-US" dirty="0" err="1"/>
              <a:t>w</a:t>
            </a:r>
            <a:r>
              <a:rPr lang="en-US" altLang="en-US" baseline="-25000" dirty="0" err="1"/>
              <a:t>k</a:t>
            </a:r>
            <a:r>
              <a:rPr lang="en-US" altLang="en-US" dirty="0"/>
              <a:t>] in between </a:t>
            </a:r>
            <a:r>
              <a:rPr lang="en-US" altLang="en-US" dirty="0" err="1"/>
              <a:t>w</a:t>
            </a:r>
            <a:r>
              <a:rPr lang="en-US" altLang="en-US" baseline="-25000" dirty="0" err="1"/>
              <a:t>j</a:t>
            </a:r>
            <a:r>
              <a:rPr lang="en-US" altLang="en-US" dirty="0"/>
              <a:t> and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.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Non-recoverable Schedules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 committed transaction depends on </a:t>
            </a:r>
            <a:br>
              <a:rPr lang="en-US" altLang="en-US" dirty="0"/>
            </a:br>
            <a:r>
              <a:rPr lang="en-US" altLang="en-US" dirty="0"/>
              <a:t>an uncommitted transaction.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Recoverable Schedules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All committed transactions depend on </a:t>
            </a:r>
            <a:br>
              <a:rPr lang="en-US" altLang="en-US" dirty="0"/>
            </a:br>
            <a:r>
              <a:rPr lang="en-US" altLang="en-US" dirty="0"/>
              <a:t>committed transactions only.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Cascading-rollback Schedules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An active transaction depends on </a:t>
            </a:r>
            <a:br>
              <a:rPr lang="en-US" altLang="en-US" dirty="0"/>
            </a:br>
            <a:r>
              <a:rPr lang="en-US" altLang="en-US" dirty="0"/>
              <a:t>another currently active transaction.</a:t>
            </a:r>
          </a:p>
          <a:p>
            <a:pPr lvl="1">
              <a:lnSpc>
                <a:spcPct val="80000"/>
              </a:lnSpc>
            </a:pPr>
            <a:r>
              <a:rPr lang="en-US" altLang="en-US" dirty="0" err="1"/>
              <a:t>Cascadeless</a:t>
            </a:r>
            <a:r>
              <a:rPr lang="en-US" altLang="en-US" dirty="0"/>
              <a:t> Schedules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All active transactions depend on </a:t>
            </a:r>
            <a:br>
              <a:rPr lang="en-US" altLang="en-US" dirty="0"/>
            </a:br>
            <a:r>
              <a:rPr lang="en-US" altLang="en-US" dirty="0"/>
              <a:t>committed transactions only.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63E2C9D5-ED8A-1E6F-A93B-58B74BE74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Recoverability</a:t>
            </a:r>
          </a:p>
        </p:txBody>
      </p:sp>
      <p:graphicFrame>
        <p:nvGraphicFramePr>
          <p:cNvPr id="149507" name="Group 3">
            <a:extLst>
              <a:ext uri="{FF2B5EF4-FFF2-40B4-BE49-F238E27FC236}">
                <a16:creationId xmlns:a16="http://schemas.microsoft.com/office/drawing/2014/main" id="{6DC124D0-5DFD-8A80-5DE1-2A029B90F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980768"/>
              </p:ext>
            </p:extLst>
          </p:nvPr>
        </p:nvGraphicFramePr>
        <p:xfrm>
          <a:off x="2615974" y="1417638"/>
          <a:ext cx="8353425" cy="438912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46220745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63953705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324111346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376679014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178686303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62715077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157945483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194833138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3195772405"/>
                    </a:ext>
                  </a:extLst>
                </a:gridCol>
                <a:gridCol w="3097213">
                  <a:extLst>
                    <a:ext uri="{9D8B030D-6E8A-4147-A177-3AD203B41FA5}">
                      <a16:colId xmlns:a16="http://schemas.microsoft.com/office/drawing/2014/main" val="2555568427"/>
                    </a:ext>
                  </a:extLst>
                </a:gridCol>
              </a:tblGrid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818414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259275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non-recoverable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48950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(commit too early)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905576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557825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T3, T4, T5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36830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Cascading rollback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798142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(read uncommitted value)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059632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406191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w(u)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T7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56374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r(u)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Cascadeless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156943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ngsana New" panose="02020603050405020304" pitchFamily="18" charset="-34"/>
                          <a:cs typeface="Angsana New" panose="02020603050405020304" pitchFamily="18" charset="-34"/>
                        </a:rPr>
                        <a:t>(read committed value)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397310"/>
                  </a:ext>
                </a:extLst>
              </a:tr>
            </a:tbl>
          </a:graphicData>
        </a:graphic>
      </p:graphicFrame>
      <p:sp>
        <p:nvSpPr>
          <p:cNvPr id="149708" name="Freeform 204">
            <a:extLst>
              <a:ext uri="{FF2B5EF4-FFF2-40B4-BE49-F238E27FC236}">
                <a16:creationId xmlns:a16="http://schemas.microsoft.com/office/drawing/2014/main" id="{9F826433-CD31-9E15-8BFF-D2D7FBB62350}"/>
              </a:ext>
            </a:extLst>
          </p:cNvPr>
          <p:cNvSpPr>
            <a:spLocks/>
          </p:cNvSpPr>
          <p:nvPr/>
        </p:nvSpPr>
        <p:spPr bwMode="auto">
          <a:xfrm>
            <a:off x="3192235" y="2505076"/>
            <a:ext cx="406400" cy="233362"/>
          </a:xfrm>
          <a:custGeom>
            <a:avLst/>
            <a:gdLst>
              <a:gd name="T0" fmla="*/ 256 w 256"/>
              <a:gd name="T1" fmla="*/ 0 h 147"/>
              <a:gd name="T2" fmla="*/ 181 w 256"/>
              <a:gd name="T3" fmla="*/ 125 h 147"/>
              <a:gd name="T4" fmla="*/ 0 w 256"/>
              <a:gd name="T5" fmla="*/ 131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6" h="147">
                <a:moveTo>
                  <a:pt x="256" y="0"/>
                </a:moveTo>
                <a:cubicBezTo>
                  <a:pt x="244" y="21"/>
                  <a:pt x="224" y="103"/>
                  <a:pt x="181" y="125"/>
                </a:cubicBezTo>
                <a:cubicBezTo>
                  <a:pt x="138" y="147"/>
                  <a:pt x="38" y="130"/>
                  <a:pt x="0" y="131"/>
                </a:cubicBezTo>
              </a:path>
            </a:pathLst>
          </a:custGeom>
          <a:noFill/>
          <a:ln w="28575" cap="rnd" cmpd="sng">
            <a:solidFill>
              <a:schemeClr val="hlink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9709" name="Freeform 205">
            <a:extLst>
              <a:ext uri="{FF2B5EF4-FFF2-40B4-BE49-F238E27FC236}">
                <a16:creationId xmlns:a16="http://schemas.microsoft.com/office/drawing/2014/main" id="{7D052F97-0EFA-5FEF-7A9A-BD1CC9CE8763}"/>
              </a:ext>
            </a:extLst>
          </p:cNvPr>
          <p:cNvSpPr>
            <a:spLocks/>
          </p:cNvSpPr>
          <p:nvPr/>
        </p:nvSpPr>
        <p:spPr bwMode="auto">
          <a:xfrm>
            <a:off x="3658961" y="2530476"/>
            <a:ext cx="377825" cy="914400"/>
          </a:xfrm>
          <a:custGeom>
            <a:avLst/>
            <a:gdLst>
              <a:gd name="T0" fmla="*/ 4 w 238"/>
              <a:gd name="T1" fmla="*/ 0 h 576"/>
              <a:gd name="T2" fmla="*/ 23 w 238"/>
              <a:gd name="T3" fmla="*/ 245 h 576"/>
              <a:gd name="T4" fmla="*/ 238 w 238"/>
              <a:gd name="T5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8" h="576">
                <a:moveTo>
                  <a:pt x="4" y="0"/>
                </a:moveTo>
                <a:cubicBezTo>
                  <a:pt x="6" y="41"/>
                  <a:pt x="0" y="64"/>
                  <a:pt x="23" y="245"/>
                </a:cubicBezTo>
                <a:cubicBezTo>
                  <a:pt x="46" y="426"/>
                  <a:pt x="193" y="507"/>
                  <a:pt x="238" y="576"/>
                </a:cubicBezTo>
              </a:path>
            </a:pathLst>
          </a:custGeom>
          <a:noFill/>
          <a:ln w="28575" cap="rnd" cmpd="sng">
            <a:solidFill>
              <a:schemeClr val="hlink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9710" name="Freeform 206">
            <a:extLst>
              <a:ext uri="{FF2B5EF4-FFF2-40B4-BE49-F238E27FC236}">
                <a16:creationId xmlns:a16="http://schemas.microsoft.com/office/drawing/2014/main" id="{31922511-6001-AB7E-4F75-0123D12D421D}"/>
              </a:ext>
            </a:extLst>
          </p:cNvPr>
          <p:cNvSpPr>
            <a:spLocks/>
          </p:cNvSpPr>
          <p:nvPr/>
        </p:nvSpPr>
        <p:spPr bwMode="auto">
          <a:xfrm>
            <a:off x="4287610" y="4306888"/>
            <a:ext cx="463550" cy="292100"/>
          </a:xfrm>
          <a:custGeom>
            <a:avLst/>
            <a:gdLst>
              <a:gd name="T0" fmla="*/ 0 w 292"/>
              <a:gd name="T1" fmla="*/ 0 h 184"/>
              <a:gd name="T2" fmla="*/ 50 w 292"/>
              <a:gd name="T3" fmla="*/ 117 h 184"/>
              <a:gd name="T4" fmla="*/ 292 w 292"/>
              <a:gd name="T5" fmla="*/ 158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2" h="184">
                <a:moveTo>
                  <a:pt x="0" y="0"/>
                </a:moveTo>
                <a:cubicBezTo>
                  <a:pt x="8" y="20"/>
                  <a:pt x="1" y="91"/>
                  <a:pt x="50" y="117"/>
                </a:cubicBezTo>
                <a:cubicBezTo>
                  <a:pt x="125" y="184"/>
                  <a:pt x="242" y="150"/>
                  <a:pt x="292" y="158"/>
                </a:cubicBezTo>
              </a:path>
            </a:pathLst>
          </a:custGeom>
          <a:noFill/>
          <a:ln w="28575" cap="rnd" cmpd="sng">
            <a:solidFill>
              <a:schemeClr val="hlink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9711" name="Freeform 207">
            <a:extLst>
              <a:ext uri="{FF2B5EF4-FFF2-40B4-BE49-F238E27FC236}">
                <a16:creationId xmlns:a16="http://schemas.microsoft.com/office/drawing/2014/main" id="{0738FFE3-862C-2275-F97F-EFFA6ECA19CE}"/>
              </a:ext>
            </a:extLst>
          </p:cNvPr>
          <p:cNvSpPr>
            <a:spLocks/>
          </p:cNvSpPr>
          <p:nvPr/>
        </p:nvSpPr>
        <p:spPr bwMode="auto">
          <a:xfrm>
            <a:off x="4951185" y="5035551"/>
            <a:ext cx="476250" cy="292100"/>
          </a:xfrm>
          <a:custGeom>
            <a:avLst/>
            <a:gdLst>
              <a:gd name="T0" fmla="*/ 0 w 300"/>
              <a:gd name="T1" fmla="*/ 0 h 184"/>
              <a:gd name="T2" fmla="*/ 75 w 300"/>
              <a:gd name="T3" fmla="*/ 117 h 184"/>
              <a:gd name="T4" fmla="*/ 300 w 300"/>
              <a:gd name="T5" fmla="*/ 159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0" h="184">
                <a:moveTo>
                  <a:pt x="0" y="0"/>
                </a:moveTo>
                <a:cubicBezTo>
                  <a:pt x="12" y="19"/>
                  <a:pt x="25" y="91"/>
                  <a:pt x="75" y="117"/>
                </a:cubicBezTo>
                <a:cubicBezTo>
                  <a:pt x="167" y="184"/>
                  <a:pt x="253" y="150"/>
                  <a:pt x="300" y="159"/>
                </a:cubicBezTo>
              </a:path>
            </a:pathLst>
          </a:custGeom>
          <a:noFill/>
          <a:ln w="28575" cap="rnd" cmpd="sng">
            <a:solidFill>
              <a:schemeClr val="hlink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9712" name="Freeform 208">
            <a:extLst>
              <a:ext uri="{FF2B5EF4-FFF2-40B4-BE49-F238E27FC236}">
                <a16:creationId xmlns:a16="http://schemas.microsoft.com/office/drawing/2014/main" id="{060C86F1-6CA4-7F36-4457-9B6340EBF375}"/>
              </a:ext>
            </a:extLst>
          </p:cNvPr>
          <p:cNvSpPr>
            <a:spLocks/>
          </p:cNvSpPr>
          <p:nvPr/>
        </p:nvSpPr>
        <p:spPr bwMode="auto">
          <a:xfrm>
            <a:off x="6937148" y="2352676"/>
            <a:ext cx="431800" cy="576262"/>
          </a:xfrm>
          <a:custGeom>
            <a:avLst/>
            <a:gdLst>
              <a:gd name="T0" fmla="*/ 0 w 226"/>
              <a:gd name="T1" fmla="*/ 0 h 363"/>
              <a:gd name="T2" fmla="*/ 176 w 226"/>
              <a:gd name="T3" fmla="*/ 104 h 363"/>
              <a:gd name="T4" fmla="*/ 226 w 226"/>
              <a:gd name="T5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363">
                <a:moveTo>
                  <a:pt x="0" y="0"/>
                </a:moveTo>
                <a:cubicBezTo>
                  <a:pt x="29" y="17"/>
                  <a:pt x="126" y="4"/>
                  <a:pt x="176" y="104"/>
                </a:cubicBezTo>
                <a:cubicBezTo>
                  <a:pt x="226" y="204"/>
                  <a:pt x="216" y="309"/>
                  <a:pt x="226" y="363"/>
                </a:cubicBezTo>
              </a:path>
            </a:pathLst>
          </a:custGeom>
          <a:noFill/>
          <a:ln w="28575" cap="rnd" cmpd="sng">
            <a:solidFill>
              <a:schemeClr val="hlink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FB50EA37-A91A-4216-6AD4-8DD49BE60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SQL and Transactions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3A93C65C-E2EE-EEEA-9AD7-C933B2323E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3838" cy="4525963"/>
          </a:xfrm>
        </p:spPr>
        <p:txBody>
          <a:bodyPr/>
          <a:lstStyle/>
          <a:p>
            <a:r>
              <a:rPr lang="en-US" altLang="en-US"/>
              <a:t>Transaction Controls in SQL commands</a:t>
            </a:r>
          </a:p>
          <a:p>
            <a:pPr lvl="1"/>
            <a:r>
              <a:rPr lang="en-US" altLang="en-US"/>
              <a:t>begin transaction</a:t>
            </a:r>
          </a:p>
          <a:p>
            <a:pPr lvl="1"/>
            <a:r>
              <a:rPr lang="en-US" altLang="en-US"/>
              <a:t>end transaction</a:t>
            </a:r>
          </a:p>
          <a:p>
            <a:pPr lvl="1"/>
            <a:r>
              <a:rPr lang="en-US" altLang="en-US"/>
              <a:t>commit work</a:t>
            </a:r>
          </a:p>
          <a:p>
            <a:pPr lvl="1"/>
            <a:r>
              <a:rPr lang="en-US" altLang="en-US"/>
              <a:t>rollback work</a:t>
            </a:r>
          </a:p>
        </p:txBody>
      </p:sp>
      <p:sp>
        <p:nvSpPr>
          <p:cNvPr id="150532" name="Rectangle 4">
            <a:extLst>
              <a:ext uri="{FF2B5EF4-FFF2-40B4-BE49-F238E27FC236}">
                <a16:creationId xmlns:a16="http://schemas.microsoft.com/office/drawing/2014/main" id="{8FC6F5E5-A3DF-82EE-F59B-656B180D015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6964" y="1600201"/>
            <a:ext cx="4033837" cy="4525963"/>
          </a:xfrm>
        </p:spPr>
        <p:txBody>
          <a:bodyPr/>
          <a:lstStyle/>
          <a:p>
            <a:r>
              <a:rPr lang="en-US" altLang="en-US"/>
              <a:t>Isolation Levels in SQL commands</a:t>
            </a:r>
          </a:p>
          <a:p>
            <a:pPr lvl="1"/>
            <a:r>
              <a:rPr lang="en-US" altLang="en-US"/>
              <a:t>read uncommitted</a:t>
            </a:r>
          </a:p>
          <a:p>
            <a:pPr lvl="1"/>
            <a:r>
              <a:rPr lang="en-US" altLang="en-US"/>
              <a:t>read committed</a:t>
            </a:r>
          </a:p>
          <a:p>
            <a:pPr lvl="1"/>
            <a:r>
              <a:rPr lang="en-US" altLang="en-US"/>
              <a:t>repeatable read</a:t>
            </a:r>
          </a:p>
          <a:p>
            <a:pPr lvl="1"/>
            <a:r>
              <a:rPr lang="en-US" altLang="en-US"/>
              <a:t>serializable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6EB47518-8420-874B-692C-AB36A7C83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Transaction Control in SQL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45186E8A-AA16-E87A-06DA-E5E857713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Define the boundary of a transaction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Begin Transaction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End Transaction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Maybe implicit</a:t>
            </a:r>
          </a:p>
          <a:p>
            <a:pPr>
              <a:lnSpc>
                <a:spcPct val="90000"/>
              </a:lnSpc>
            </a:pPr>
            <a:r>
              <a:rPr lang="en-US" altLang="en-US"/>
              <a:t>Transaction Termination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Commit [Work]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Rollback [Work]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Nothing can be done after commit/rollback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8E8E4AF5-ED0A-3BC7-9ECD-B95A416B4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Isolation Level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E9ABC72F-D4C3-2DB9-B597-E5DB24C88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Relaxation of Isolation Property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Read Uncommitted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Allow transactions to read uncommitted values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Read Committed (most commercial system default)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Allow transactions to read committed values but transactions may see different values of the same data item at a different time.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Repeatable Read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Based on the concept previously learnt, </a:t>
            </a:r>
            <a:br>
              <a:rPr lang="en-US" altLang="en-US" sz="1800"/>
            </a:br>
            <a:r>
              <a:rPr lang="en-US" altLang="en-US" sz="1800"/>
              <a:t>this is serializable BUT there is a </a:t>
            </a:r>
            <a:r>
              <a:rPr lang="en-US" altLang="en-US" sz="1800">
                <a:solidFill>
                  <a:srgbClr val="FF3300"/>
                </a:solidFill>
              </a:rPr>
              <a:t>phantom phenomenon</a:t>
            </a:r>
            <a:r>
              <a:rPr lang="en-US" altLang="en-US" sz="180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Serializable (SQL-92 standard default)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Guarantee equivalence to a serial schedule.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323A182C-FD49-8986-7A5E-07A9BC945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  <a:endParaRPr lang="th-TH" altLang="en-US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3390CB7-7A3B-DC50-7623-66B8006521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28788" y="2017713"/>
            <a:ext cx="8750300" cy="4114800"/>
          </a:xfrm>
        </p:spPr>
        <p:txBody>
          <a:bodyPr anchor="ctr" anchorCtr="1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400"/>
              <a:t>Transaction Concepts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Transaction Properties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Transaction Life Cycle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Schedule of Transactions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Serializability of Schedules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Recoverability of Transactions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Isolation Level of Transactions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Transaction Concepts in SQL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Questions and Answers</a:t>
            </a:r>
            <a:endParaRPr lang="en-US" altLang="en-US"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B5067353-B0B9-0C4E-8245-BF8164A164A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7535" r="1715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3" y="925831"/>
            <a:ext cx="4641481" cy="13601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latin typeface="+mj-lt"/>
              </a:rPr>
              <a:t>Thank You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6550958" cy="2074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“Be like the honeybee who gathers only nectar wherever it goes. Seek the goodness that is found in everyone.”</a:t>
            </a:r>
            <a:br>
              <a:rPr lang="en-US" sz="1700" dirty="0">
                <a:latin typeface="+mn-lt"/>
              </a:rPr>
            </a:br>
            <a:r>
              <a:rPr lang="en-US" sz="1700" dirty="0">
                <a:latin typeface="+mn-lt"/>
              </a:rPr>
              <a:t>-- </a:t>
            </a:r>
            <a:r>
              <a:rPr lang="en-US" sz="1700" b="1" dirty="0">
                <a:latin typeface="+mn-lt"/>
              </a:rPr>
              <a:t>Mata Amritanandamayi</a:t>
            </a:r>
            <a:endParaRPr lang="en-US" sz="1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411682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Cover p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3CD6CE29747349A5A94DA81629FDC5" ma:contentTypeVersion="11" ma:contentTypeDescription="Create a new document." ma:contentTypeScope="" ma:versionID="dc06cc9d132ff9dbfd94d33746a170bc">
  <xsd:schema xmlns:xsd="http://www.w3.org/2001/XMLSchema" xmlns:xs="http://www.w3.org/2001/XMLSchema" xmlns:p="http://schemas.microsoft.com/office/2006/metadata/properties" xmlns:ns2="288a120d-550d-410d-8e83-3a0debd8f61a" xmlns:ns3="b2fc7224-56e7-4a56-81e9-64380d6fda13" targetNamespace="http://schemas.microsoft.com/office/2006/metadata/properties" ma:root="true" ma:fieldsID="3e4d2b7f430bf8adbb47ab8b4dbba55a" ns2:_="" ns3:_="">
    <xsd:import namespace="288a120d-550d-410d-8e83-3a0debd8f61a"/>
    <xsd:import namespace="b2fc7224-56e7-4a56-81e9-64380d6fda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8a120d-550d-410d-8e83-3a0debd8f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c7224-56e7-4a56-81e9-64380d6fda1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6A51D3-70D6-4C59-A5F9-E965D4778D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8a120d-550d-410d-8e83-3a0debd8f61a"/>
    <ds:schemaRef ds:uri="b2fc7224-56e7-4a56-81e9-64380d6fd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4EAF80-A9B1-4397-8673-948369AFEF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86E6DA-5186-4C2D-B67F-DA1E8DD817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2835</Words>
  <Application>Microsoft Office PowerPoint</Application>
  <PresentationFormat>Widescreen</PresentationFormat>
  <Paragraphs>517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Adobe Hebrew</vt:lpstr>
      <vt:lpstr>Arial</vt:lpstr>
      <vt:lpstr>Avenir Next LT Pro</vt:lpstr>
      <vt:lpstr>Calibri</vt:lpstr>
      <vt:lpstr>Futura</vt:lpstr>
      <vt:lpstr>Garamond</vt:lpstr>
      <vt:lpstr>Tahoma</vt:lpstr>
      <vt:lpstr>Wingdings</vt:lpstr>
      <vt:lpstr>Presentation Cover page</vt:lpstr>
      <vt:lpstr>Presentation slides</vt:lpstr>
      <vt:lpstr>Data Engineering &amp; Administration</vt:lpstr>
      <vt:lpstr>Objectives and Outline</vt:lpstr>
      <vt:lpstr>Transactions</vt:lpstr>
      <vt:lpstr>Transaction Properties</vt:lpstr>
      <vt:lpstr>Application Programs vs. Transactions</vt:lpstr>
      <vt:lpstr>Atomicity of a transaction</vt:lpstr>
      <vt:lpstr>Consistency of a transaction</vt:lpstr>
      <vt:lpstr>Isolation of a transaction</vt:lpstr>
      <vt:lpstr>Durability of a transaction</vt:lpstr>
      <vt:lpstr>Major Issues</vt:lpstr>
      <vt:lpstr>Transaction Life Cycle</vt:lpstr>
      <vt:lpstr>Transaction Life Cycle</vt:lpstr>
      <vt:lpstr>Transaction Schedules</vt:lpstr>
      <vt:lpstr>Transaction Schedules</vt:lpstr>
      <vt:lpstr>Types of Schedules  in Term of Serializability</vt:lpstr>
      <vt:lpstr>Equivalence of Schedules</vt:lpstr>
      <vt:lpstr>A Final State Serializable Schedule</vt:lpstr>
      <vt:lpstr>A View Serializable Schedule</vt:lpstr>
      <vt:lpstr>A Conflict Serializable Schedule</vt:lpstr>
      <vt:lpstr>Serializability</vt:lpstr>
      <vt:lpstr>Test of (Conflict) Serializability</vt:lpstr>
      <vt:lpstr>Test of Serializability</vt:lpstr>
      <vt:lpstr>Recoverability</vt:lpstr>
      <vt:lpstr>Recoverability</vt:lpstr>
      <vt:lpstr>SQL and Transactions</vt:lpstr>
      <vt:lpstr>Transaction Control in SQL</vt:lpstr>
      <vt:lpstr>Isolation Level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Nidheesh M.</dc:creator>
  <cp:lastModifiedBy>Nidheesh M.</cp:lastModifiedBy>
  <cp:revision>24</cp:revision>
  <dcterms:created xsi:type="dcterms:W3CDTF">2020-07-03T08:40:50Z</dcterms:created>
  <dcterms:modified xsi:type="dcterms:W3CDTF">2024-11-19T04:44:42Z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0x010100643CD6CE29747349A5A94DA81629FDC5</vt:lpwstr>
  </property>
</Properties>
</file>